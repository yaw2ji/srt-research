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2" r:id="rId10"/>
    <p:sldId id="291" r:id="rId11"/>
    <p:sldId id="290" r:id="rId12"/>
    <p:sldId id="292" r:id="rId13"/>
    <p:sldId id="294" r:id="rId14"/>
    <p:sldId id="295" r:id="rId15"/>
    <p:sldId id="28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51" autoAdjust="0"/>
  </p:normalViewPr>
  <p:slideViewPr>
    <p:cSldViewPr snapToGrid="0" showGuides="1">
      <p:cViewPr varScale="1">
        <p:scale>
          <a:sx n="48" d="100"/>
          <a:sy n="48" d="100"/>
        </p:scale>
        <p:origin x="78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9F639-3911-43BD-8CAF-452A24953A76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EFE71-91E2-48C8-88E2-96580AB19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83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520CD2-3A54-564A-8F84-B7D9C6371DA6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313B-5D22-6127-754D-7C5A7E82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3669C-632E-6C29-2BEC-37883B3D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624A5-03B9-4CB0-D6DE-A75E28C617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过去的 </a:t>
            </a:r>
            <a:r>
              <a:rPr lang="en-US" altLang="zh-CN" dirty="0"/>
              <a:t>APK </a:t>
            </a:r>
            <a:r>
              <a:rPr lang="zh-CN" altLang="en-US" dirty="0"/>
              <a:t>逆向通常依赖人工操作多个工具，分析过程被拆成很多独立步骤。现在，大语言模型和 </a:t>
            </a:r>
            <a:r>
              <a:rPr lang="en-US" altLang="zh-CN" dirty="0"/>
              <a:t>Agent </a:t>
            </a:r>
            <a:r>
              <a:rPr lang="zh-CN" altLang="en-US" dirty="0"/>
              <a:t>可以读取反编译结果、恢复代码语义、规划下一步动作，并根据工具输出继续重试。  这意味着逆向能力的变化不只是“工具更快”，而是分析过程正在变成一条由模型持续决策的自动化链路。对于依赖代码混淆、加壳和反调试保护的 </a:t>
            </a:r>
            <a:r>
              <a:rPr lang="en-US" altLang="zh-CN" dirty="0"/>
              <a:t>APK </a:t>
            </a:r>
            <a:r>
              <a:rPr lang="zh-CN" altLang="en-US" dirty="0"/>
              <a:t>来说，知识产权暴露面和规模化滥用风险都会增加。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24EAC-9942-4B9B-A117-354B1AC52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5755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现有 </a:t>
            </a:r>
            <a:r>
              <a:rPr lang="en-US" altLang="zh-CN" dirty="0"/>
              <a:t>APK </a:t>
            </a:r>
            <a:r>
              <a:rPr lang="zh-CN" altLang="en-US" dirty="0"/>
              <a:t>防护主要围绕代码隐藏展开，例如混淆、加壳和反调试。但这些方法的目标是前提攻击者需要人工理解代码。而 </a:t>
            </a:r>
            <a:r>
              <a:rPr lang="en-US" altLang="zh-CN" dirty="0"/>
              <a:t>LLM Agent </a:t>
            </a:r>
            <a:r>
              <a:rPr lang="zh-CN" altLang="en-US" dirty="0"/>
              <a:t>改变了这一前提，它能够通过语义推理恢复程序功能，并调用工具去进行逆向分析。因此，我们需要探索一种新的防御方向。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065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本文的核心思路不是继续增加代码层面的复杂度，而是通过</a:t>
            </a:r>
            <a:r>
              <a:rPr lang="en-US" altLang="zh-CN" dirty="0"/>
              <a:t>SRT</a:t>
            </a:r>
            <a:r>
              <a:rPr lang="zh-CN" altLang="en-US" dirty="0"/>
              <a:t>将模型安全对齐机制引入</a:t>
            </a:r>
            <a:r>
              <a:rPr lang="en-US" altLang="zh-CN" dirty="0"/>
              <a:t>APK</a:t>
            </a:r>
            <a:r>
              <a:rPr lang="zh-CN" altLang="en-US" dirty="0"/>
              <a:t>的内容层防护，把防护位置往模型的分析通道移动。  </a:t>
            </a:r>
            <a:endParaRPr lang="en-US" altLang="zh-CN" dirty="0"/>
          </a:p>
          <a:p>
            <a:r>
              <a:rPr lang="zh-CN" altLang="en-US" dirty="0"/>
              <a:t>我们首先构造具有安全敏感语义、但经过无害化处理的内容，并将其嵌入 </a:t>
            </a:r>
            <a:r>
              <a:rPr lang="en-US" altLang="zh-CN" dirty="0"/>
              <a:t>APK </a:t>
            </a:r>
            <a:r>
              <a:rPr lang="zh-CN" altLang="en-US" dirty="0"/>
              <a:t>的 </a:t>
            </a:r>
            <a:r>
              <a:rPr lang="en-US" altLang="zh-CN" dirty="0"/>
              <a:t>Manifest</a:t>
            </a:r>
            <a:r>
              <a:rPr lang="zh-CN" altLang="en-US" dirty="0"/>
              <a:t>、资源或代码相关工件中。当逆向 </a:t>
            </a:r>
            <a:r>
              <a:rPr lang="en-US" altLang="zh-CN" dirty="0"/>
              <a:t>Agent </a:t>
            </a:r>
            <a:r>
              <a:rPr lang="zh-CN" altLang="en-US" dirty="0"/>
              <a:t>读取这些工件并尝试恢复程序语义时，模型自身的安全对齐机制可能被触发，从而产生拒答、分析中断、拒绝并安全替换的结果。 </a:t>
            </a:r>
            <a:endParaRPr lang="en-US" altLang="zh-CN" dirty="0"/>
          </a:p>
          <a:p>
            <a:r>
              <a:rPr lang="zh-CN" altLang="en-US" dirty="0"/>
              <a:t> 因此，</a:t>
            </a:r>
            <a:r>
              <a:rPr lang="en-US" altLang="zh-CN" dirty="0"/>
              <a:t>SRT </a:t>
            </a:r>
            <a:r>
              <a:rPr lang="zh-CN" altLang="en-US" dirty="0"/>
              <a:t>的作用不是改变普通用户看到的功能，而是让 </a:t>
            </a:r>
            <a:r>
              <a:rPr lang="en-US" altLang="zh-CN" dirty="0"/>
              <a:t>APK </a:t>
            </a:r>
            <a:r>
              <a:rPr lang="zh-CN" altLang="en-US" dirty="0"/>
              <a:t>在被 </a:t>
            </a:r>
            <a:r>
              <a:rPr lang="en-US" altLang="zh-CN" dirty="0"/>
              <a:t>LLM </a:t>
            </a:r>
            <a:r>
              <a:rPr lang="zh-CN" altLang="en-US" dirty="0"/>
              <a:t>读取和分析时，多出一层内容级的防护。后面几页会分别说明 </a:t>
            </a:r>
            <a:r>
              <a:rPr lang="en-US" altLang="zh-CN" dirty="0"/>
              <a:t>SRT </a:t>
            </a:r>
            <a:r>
              <a:rPr lang="zh-CN" altLang="en-US" dirty="0"/>
              <a:t>的内容类型、存在位置，以及如何进行无害化处理。</a:t>
            </a:r>
            <a:endParaRPr lang="en-US" altLang="zh-CN" dirty="0"/>
          </a:p>
          <a:p>
            <a:r>
              <a:rPr lang="zh-CN" altLang="en-US" dirty="0"/>
              <a:t>这个思路的关键问题是：什么样的内容可以触发安全护栏，同时又不会对普通用户造成危害？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348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什么样的内容可以作为安全拒答触发器？在这项初步研究中，我们选择 </a:t>
            </a:r>
            <a:r>
              <a:rPr lang="en-US" altLang="zh-CN" dirty="0"/>
              <a:t>CBRN </a:t>
            </a:r>
            <a:r>
              <a:rPr lang="zh-CN" altLang="en-US" dirty="0"/>
              <a:t>作为实验范围，分别覆盖化学、生物、放射性和核相关安全语义。 </a:t>
            </a:r>
            <a:endParaRPr lang="en-US" altLang="zh-CN" dirty="0"/>
          </a:p>
          <a:p>
            <a:r>
              <a:rPr lang="zh-CN" altLang="en-US" dirty="0"/>
              <a:t> 选择 </a:t>
            </a:r>
            <a:r>
              <a:rPr lang="en-US" altLang="zh-CN" dirty="0"/>
              <a:t>CBRN </a:t>
            </a:r>
            <a:r>
              <a:rPr lang="zh-CN" altLang="en-US" dirty="0"/>
              <a:t>的原因，是这些语义在模型安全对齐中具有相对清晰的边界，也便于构建统一的分类和测试条件。</a:t>
            </a:r>
            <a:endParaRPr lang="en-US" altLang="zh-CN" dirty="0"/>
          </a:p>
          <a:p>
            <a:r>
              <a:rPr lang="zh-CN" altLang="en-US" dirty="0"/>
              <a:t>这里研究的不是危险知识本身，而是模型对不同安全敏感语义的响应。  因此，数据集中的样本需要经过抽象化和无害化处理，只保留可能触发安全护栏的语义特征，不包含可执行的操作步骤。后面我们还需要回答另一个问题：这些触发器应该放在 </a:t>
            </a:r>
            <a:r>
              <a:rPr lang="en-US" altLang="zh-CN" dirty="0"/>
              <a:t>APK </a:t>
            </a:r>
            <a:r>
              <a:rPr lang="zh-CN" altLang="en-US" dirty="0"/>
              <a:t>的什么位置。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08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38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G(t)≥</a:t>
                </a:r>
                <a:r>
                  <a:rPr lang="el-GR" altLang="zh-CN" dirty="0"/>
                  <a:t>τ</a:t>
                </a:r>
                <a:r>
                  <a:rPr lang="en-US" altLang="zh-CN" dirty="0"/>
                  <a:t>g​ </a:t>
                </a:r>
                <a:r>
                  <a:rPr lang="zh-CN" altLang="en-US" dirty="0"/>
                  <a:t>表示净化后的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仍能达到预定的护栏触发阈值。   </a:t>
                </a:r>
                <a:endParaRPr lang="en-US" altLang="zh-CN" sz="1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d>
                      <m:d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𝜏</m:t>
                        </m:r>
                      </m:e>
                      <m:sub>
                        <m: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dirty="0"/>
                  <a:t>表示净化后内容的危害性和实际可操作性低于安全上限。</a:t>
                </a:r>
                <a:r>
                  <a:rPr lang="zh-CN" altLang="en-US" baseline="0" dirty="0"/>
                  <a:t> </a:t>
                </a:r>
                <a:endParaRPr lang="en-US" altLang="zh-CN" baseline="0" dirty="0"/>
              </a:p>
              <a:p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d>
                      <m:dPr>
                        <m:sepChr m:val=","/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e>
                      <m:e>
                        <m:r>
                          <a:rPr lang="ar-AE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⊕</m:t>
                        </m:r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𝑡𝑖</m:t>
                        </m:r>
                      </m:e>
                    </m:d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zh-CN" alt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d>
                      <m:dPr>
                        <m:sepChr m:val=","/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e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</m:d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∀</m:t>
                    </m:r>
                    <m:r>
                      <a:rPr lang="zh-CN" alt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  <m:r>
                      <a:rPr lang="ar-AE" altLang="zh-CN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sSub>
                      <m:sSubPr>
                        <m:ctrlPr>
                          <a:rPr lang="ar-AE" altLang="zh-CN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normal</m:t>
                        </m:r>
                      </m:sub>
                    </m:sSub>
                  </m:oMath>
                </a14:m>
                <a:r>
                  <a:rPr lang="en-US" altLang="zh-CN" b="0" dirty="0"/>
                  <a:t>  </a:t>
                </a:r>
                <a:r>
                  <a:rPr lang="zh-CN" altLang="en-US" dirty="0"/>
                  <a:t>表示嵌入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前后，</a:t>
                </a:r>
                <a:r>
                  <a:rPr lang="en-US" altLang="zh-CN" dirty="0"/>
                  <a:t>APK </a:t>
                </a:r>
                <a:r>
                  <a:rPr lang="zh-CN" altLang="en-US" dirty="0"/>
                  <a:t>对所有正常业务输入的功能输出保持一致。</a:t>
                </a:r>
                <a:endParaRPr lang="en-US" altLang="zh-CN" dirty="0"/>
              </a:p>
              <a:p>
                <a:r>
                  <a:rPr lang="zh-CN" altLang="en-US" dirty="0"/>
                  <a:t>最终接受条件统一写为：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zh-CN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ccept</m:t>
                      </m:r>
                      <m:d>
                        <m:dPr>
                          <m:ctrlPr>
                            <a:rPr lang="ar-AE" altLang="zh-CN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altLang="zh-C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⟺</m:t>
                      </m:r>
                      <m:r>
                        <m:rPr>
                          <m:nor/>
                        </m:rPr>
                        <a:rPr lang="ar-AE" altLang="zh-CN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  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  <m:d>
                            <m:d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≥</m:t>
                          </m:r>
                          <m:sSub>
                            <m:sSub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zh-CN" alt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d>
                            <m:d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≤</m:t>
                          </m:r>
                          <m:sSub>
                            <m:sSub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ar-AE" altLang="zh-CN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∧</m:t>
                      </m:r>
                      <m:d>
                        <m:dPr>
                          <m:begChr m:val="["/>
                          <m:endChr m:val="]"/>
                          <m:ctrlPr>
                            <a:rPr lang="ar-AE" altLang="zh-CN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func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ar-AE" altLang="zh-CN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lang="ar-AE" altLang="zh-CN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⊕</m:t>
                              </m:r>
                              <m:r>
                                <a:rPr lang="zh-CN" alt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</m:d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altLang="zh-CN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altLang="zh-CN" b="0" dirty="0"/>
              </a:p>
              <a:p>
                <a:r>
                  <a:rPr lang="zh-CN" altLang="en-US" dirty="0"/>
                  <a:t>也就是：</a:t>
                </a:r>
                <a:r>
                  <a:rPr lang="zh-CN" altLang="en-US" b="1" dirty="0"/>
                  <a:t>触发性达标 ∧ 危害性足够低 ∧ </a:t>
                </a:r>
                <a:r>
                  <a:rPr lang="en-US" altLang="zh-CN" b="1" dirty="0"/>
                  <a:t>APK </a:t>
                </a:r>
                <a:r>
                  <a:rPr lang="zh-CN" altLang="en-US" b="1" dirty="0"/>
                  <a:t>功能保持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zh-CN" altLang="en-US" dirty="0"/>
              </a:p>
              <a:p>
                <a:r>
                  <a:rPr lang="en-US" altLang="zh-CN" dirty="0"/>
                  <a:t>SRT </a:t>
                </a:r>
                <a:r>
                  <a:rPr lang="zh-CN" altLang="en-US" dirty="0"/>
                  <a:t>的设计存在一个必须优先解决的安全问题。如果直接把完整的安全敏感内容嵌入 </a:t>
                </a:r>
                <a:r>
                  <a:rPr lang="en-US" altLang="zh-CN" dirty="0"/>
                  <a:t>APK</a:t>
                </a:r>
                <a:r>
                  <a:rPr lang="zh-CN" altLang="en-US" dirty="0"/>
                  <a:t>，它可能对普通用户造成误导，也可能被攻击者提取和滥用。因此，无害化不是附加步骤，而是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成立的必要条件。  我们希望无害化后的内容同时满足三个要求：第一，它仍然能够触发模型的安全护栏；第二，它不再包含完整、可执行的危险语义；第三，注入之后 </a:t>
                </a:r>
                <a:r>
                  <a:rPr lang="en-US" altLang="zh-CN" dirty="0"/>
                  <a:t>APK </a:t>
                </a:r>
                <a:r>
                  <a:rPr lang="zh-CN" altLang="en-US" dirty="0"/>
                  <a:t>的正常功能保持不变。  因此，可以把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的有效性形式化为三个条件的交集：触发性达到阈值、危害性低于阈值，并且功能验证通过。后续的消融实验会进一步比较无害化前后的触发效果。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G(t)≥</a:t>
                </a:r>
                <a:r>
                  <a:rPr lang="el-GR" altLang="zh-CN" dirty="0"/>
                  <a:t>τ</a:t>
                </a:r>
                <a:r>
                  <a:rPr lang="en-US" altLang="zh-CN" dirty="0"/>
                  <a:t>g​ </a:t>
                </a:r>
                <a:r>
                  <a:rPr lang="zh-CN" altLang="en-US" dirty="0"/>
                  <a:t>表示净化后的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仍能达到预定的护栏触发阈值。   </a:t>
                </a:r>
                <a:endParaRPr lang="en-US" altLang="zh-CN" sz="1200" i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≤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_ℎ</a:t>
                </a:r>
                <a:r>
                  <a:rPr lang="zh-CN" altLang="en-US" dirty="0"/>
                  <a:t>表示净化后内容的危害性和实际可操作性低于安全上限。</a:t>
                </a:r>
                <a:r>
                  <a:rPr lang="zh-CN" altLang="en-US" baseline="0" dirty="0"/>
                  <a:t> </a:t>
                </a:r>
                <a:endParaRPr lang="en-US" altLang="zh-CN" baseline="0" dirty="0"/>
              </a:p>
              <a:p>
                <a:pPr/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𝐴ⓜ,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⊕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𝑡𝑖)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𝐴ⓜ,𝑖)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 ∀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"normal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altLang="zh-CN" b="0" dirty="0"/>
                  <a:t>  </a:t>
                </a:r>
                <a:r>
                  <a:rPr lang="zh-CN" altLang="en-US" dirty="0"/>
                  <a:t>表示嵌入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前后，</a:t>
                </a:r>
                <a:r>
                  <a:rPr lang="en-US" altLang="zh-CN" dirty="0"/>
                  <a:t>APK </a:t>
                </a:r>
                <a:r>
                  <a:rPr lang="zh-CN" altLang="en-US" dirty="0"/>
                  <a:t>对所有正常业务输入的功能输出保持一致。</a:t>
                </a:r>
                <a:endParaRPr lang="en-US" altLang="zh-CN" dirty="0"/>
              </a:p>
              <a:p>
                <a:r>
                  <a:rPr lang="zh-CN" altLang="en-US" dirty="0"/>
                  <a:t>最终接受条件统一写为：</a:t>
                </a:r>
              </a:p>
              <a:p>
                <a:pPr/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Accept</a:t>
                </a:r>
                <a:r>
                  <a:rPr lang="ar-AE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"⟺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[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≥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]∧[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≤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_ℎ ]∧[</a:t>
                </a:r>
                <a:r>
                  <a:rPr lang="el-GR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func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(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𝐴ⓜ,𝐴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⊕</a:t>
                </a:r>
                <a:r>
                  <a:rPr lang="zh-CN" alt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𝑡)</a:t>
                </a:r>
                <a:r>
                  <a:rPr lang="ar-AE" altLang="zh-CN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=0]</a:t>
                </a:r>
                <a:endParaRPr lang="ar-AE" altLang="zh-CN" b="0" dirty="0"/>
              </a:p>
              <a:p>
                <a:r>
                  <a:rPr lang="zh-CN" altLang="en-US" dirty="0"/>
                  <a:t>也就是：</a:t>
                </a:r>
                <a:r>
                  <a:rPr lang="zh-CN" altLang="en-US" b="1" dirty="0"/>
                  <a:t>触发性达标 ∧ 危害性足够低 ∧ </a:t>
                </a:r>
                <a:r>
                  <a:rPr lang="en-US" altLang="zh-CN" b="1" dirty="0"/>
                  <a:t>APK </a:t>
                </a:r>
                <a:r>
                  <a:rPr lang="zh-CN" altLang="en-US" b="1" dirty="0"/>
                  <a:t>功能保持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zh-CN" altLang="en-US" dirty="0"/>
              </a:p>
              <a:p>
                <a:r>
                  <a:rPr lang="en-US" altLang="zh-CN" dirty="0"/>
                  <a:t>SRT </a:t>
                </a:r>
                <a:r>
                  <a:rPr lang="zh-CN" altLang="en-US" dirty="0"/>
                  <a:t>的设计存在一个必须优先解决的安全问题。如果直接把完整的安全敏感内容嵌入 </a:t>
                </a:r>
                <a:r>
                  <a:rPr lang="en-US" altLang="zh-CN" dirty="0"/>
                  <a:t>APK</a:t>
                </a:r>
                <a:r>
                  <a:rPr lang="zh-CN" altLang="en-US" dirty="0"/>
                  <a:t>，它可能对普通用户造成误导，也可能被攻击者提取和滥用。因此，无害化不是附加步骤，而是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成立的必要条件。  我们希望无害化后的内容同时满足三个要求：第一，它仍然能够触发模型的安全护栏；第二，它不再包含完整、可执行的危险语义；第三，注入之后 </a:t>
                </a:r>
                <a:r>
                  <a:rPr lang="en-US" altLang="zh-CN" dirty="0"/>
                  <a:t>APK </a:t>
                </a:r>
                <a:r>
                  <a:rPr lang="zh-CN" altLang="en-US" dirty="0"/>
                  <a:t>的正常功能保持不变。  因此，可以把 </a:t>
                </a:r>
                <a:r>
                  <a:rPr lang="en-US" altLang="zh-CN" dirty="0"/>
                  <a:t>SRT </a:t>
                </a:r>
                <a:r>
                  <a:rPr lang="zh-CN" altLang="en-US" dirty="0"/>
                  <a:t>的有效性形式化为三个条件的交集：触发性达到阈值、危害性低于阈值，并且功能验证通过。后续的消融实验会进一步比较无害化前后的触发效果。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27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经过这套筛选流程后，我们最终获得了怎样的数据集规模、类别分布和样本通过率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981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5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EFE71-91E2-48C8-88E2-96580AB193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503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23086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 userDrawn="1"/>
        </p:nvSpPr>
        <p:spPr>
          <a:xfrm>
            <a:off x="0" y="35773"/>
            <a:ext cx="1095375" cy="914399"/>
          </a:xfrm>
          <a:custGeom>
            <a:avLst/>
            <a:gdLst>
              <a:gd name="connsiteX0" fmla="*/ 0 w 1095825"/>
              <a:gd name="connsiteY0" fmla="*/ 0 h 914400"/>
              <a:gd name="connsiteX1" fmla="*/ 1095825 w 1095825"/>
              <a:gd name="connsiteY1" fmla="*/ 0 h 914400"/>
              <a:gd name="connsiteX2" fmla="*/ 608144 w 1095825"/>
              <a:gd name="connsiteY2" fmla="*/ 914400 h 914400"/>
              <a:gd name="connsiteX3" fmla="*/ 0 w 1095825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825" h="914400">
                <a:moveTo>
                  <a:pt x="0" y="0"/>
                </a:moveTo>
                <a:lnTo>
                  <a:pt x="1095825" y="0"/>
                </a:lnTo>
                <a:lnTo>
                  <a:pt x="60814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9C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71438"/>
          </a:xfrm>
          <a:prstGeom prst="rect">
            <a:avLst/>
          </a:prstGeom>
          <a:solidFill>
            <a:srgbClr val="9C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800851"/>
            <a:ext cx="12192000" cy="71437"/>
          </a:xfrm>
          <a:prstGeom prst="rect">
            <a:avLst/>
          </a:prstGeom>
          <a:solidFill>
            <a:srgbClr val="9C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7" name="图片 9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36525" y="238125"/>
            <a:ext cx="528638" cy="53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直接连接符 2"/>
          <p:cNvCxnSpPr/>
          <p:nvPr userDrawn="1"/>
        </p:nvCxnSpPr>
        <p:spPr>
          <a:xfrm>
            <a:off x="480060" y="930717"/>
            <a:ext cx="11711940" cy="0"/>
          </a:xfrm>
          <a:prstGeom prst="line">
            <a:avLst/>
          </a:prstGeom>
          <a:ln w="38100">
            <a:solidFill>
              <a:srgbClr val="9C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231900" y="233805"/>
            <a:ext cx="10515600" cy="613434"/>
          </a:xfrm>
        </p:spPr>
        <p:txBody>
          <a:bodyPr>
            <a:noAutofit/>
          </a:bodyPr>
          <a:lstStyle>
            <a:lvl1pPr>
              <a:defRPr sz="3600"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822156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259286"/>
            <a:ext cx="12192000" cy="598714"/>
          </a:xfrm>
          <a:prstGeom prst="rect">
            <a:avLst/>
          </a:prstGeom>
          <a:solidFill>
            <a:srgbClr val="9C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C181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911317" y="1861469"/>
            <a:ext cx="10935763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Medium"/>
              </a:rPr>
              <a:t>When APKs Trigger Refusal: A Pilot Study of Safety-Refusal Triggers against LLM-Assisted Reverse Engineering</a:t>
            </a:r>
            <a:endParaRPr kumimoji="0" lang="zh-CN" altLang="en-US" sz="2400" b="1" i="0" u="none" strike="noStrike" kern="1200" cap="none" spc="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阿里巴巴普惠体 Medium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3803947" y="4489249"/>
            <a:ext cx="466140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228600" dist="76200" dir="2700000" algn="tl" rotWithShape="0">
                  <a:prstClr val="black">
                    <a:alpha val="13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72" y="1"/>
            <a:ext cx="781945" cy="7819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88571" y="0"/>
            <a:ext cx="11103429" cy="718458"/>
          </a:xfrm>
          <a:prstGeom prst="rect">
            <a:avLst/>
          </a:prstGeom>
          <a:solidFill>
            <a:srgbClr val="9C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C181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755A-E28F-406C-6153-AD53F2E3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10FAB-D325-29A5-A197-D8E80AF0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735" y="233805"/>
            <a:ext cx="10515600" cy="613434"/>
          </a:xfrm>
        </p:spPr>
        <p:txBody>
          <a:bodyPr/>
          <a:lstStyle/>
          <a:p>
            <a:r>
              <a:rPr lang="zh-CN" altLang="en-US" dirty="0"/>
              <a:t>大模型驱动的</a:t>
            </a:r>
            <a:r>
              <a:rPr lang="en-US" altLang="zh-CN" dirty="0"/>
              <a:t>agent</a:t>
            </a:r>
            <a:r>
              <a:rPr lang="zh-CN" altLang="en-US" dirty="0"/>
              <a:t>逆向分析带来新的安全风险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F0B22D-23FF-F4D8-EB2B-F1D813D78A17}"/>
              </a:ext>
            </a:extLst>
          </p:cNvPr>
          <p:cNvSpPr txBox="1"/>
          <p:nvPr/>
        </p:nvSpPr>
        <p:spPr>
          <a:xfrm>
            <a:off x="393576" y="1090214"/>
            <a:ext cx="10830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大模型的快速发展正在把基于经验的</a:t>
            </a:r>
            <a:r>
              <a:rPr lang="en-US" altLang="zh-CN" dirty="0"/>
              <a:t>APK</a:t>
            </a:r>
            <a:r>
              <a:rPr lang="zh-CN" altLang="en-US" dirty="0"/>
              <a:t>逆向工程变成可迭代的自动化流程，大大降低了逆向工程的门槛并加快了逆向分析的效率。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2F6867-1472-7B5F-7B96-A6ED1A8A5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" y="2227428"/>
            <a:ext cx="6007224" cy="36282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B3EE5A-3449-6330-2C79-C7F611D8C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107" y="1826998"/>
            <a:ext cx="2676376" cy="12254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27BA31-027E-3319-5E7D-0AABFCC35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671" y="1563247"/>
            <a:ext cx="1904053" cy="186575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A60A1B2-449E-3128-2AFD-B81D98097C70}"/>
              </a:ext>
            </a:extLst>
          </p:cNvPr>
          <p:cNvSpPr txBox="1"/>
          <p:nvPr/>
        </p:nvSpPr>
        <p:spPr>
          <a:xfrm>
            <a:off x="6862671" y="4854891"/>
            <a:ext cx="50748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大模型驱动的</a:t>
            </a:r>
            <a:r>
              <a:rPr lang="en-US" altLang="zh-CN" sz="1400" b="1" dirty="0"/>
              <a:t>agent</a:t>
            </a:r>
            <a:r>
              <a:rPr lang="zh-CN" altLang="en-US" sz="1400" b="1" dirty="0"/>
              <a:t>逆向分析带来的风险</a:t>
            </a:r>
            <a:endParaRPr lang="en-US" altLang="zh-CN" sz="1400" b="1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知识产权暴露面扩大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代码语义恢复不再完全依赖人工分析。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逆向任务更容易规模化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Agent </a:t>
            </a:r>
            <a:r>
              <a:rPr lang="zh-CN" altLang="en-US" sz="1400" dirty="0"/>
              <a:t>可以自动执行多个分析步骤和工具调用。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黑灰产滥用风险上升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自动化能力可降低复制、分析和滥用 </a:t>
            </a:r>
            <a:r>
              <a:rPr lang="en-US" altLang="zh-CN" sz="1400" dirty="0"/>
              <a:t>APK </a:t>
            </a:r>
            <a:r>
              <a:rPr lang="zh-CN" altLang="en-US" sz="1400" dirty="0"/>
              <a:t>的门槛。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604BDA1-4082-7517-0DB7-803EB38207C7}"/>
              </a:ext>
            </a:extLst>
          </p:cNvPr>
          <p:cNvSpPr txBox="1"/>
          <p:nvPr/>
        </p:nvSpPr>
        <p:spPr>
          <a:xfrm>
            <a:off x="7814697" y="3580981"/>
            <a:ext cx="3565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Agent</a:t>
            </a:r>
            <a:r>
              <a:rPr lang="zh-CN" altLang="en-US" dirty="0"/>
              <a:t>逆向分析已成趋势</a:t>
            </a:r>
          </a:p>
        </p:txBody>
      </p:sp>
    </p:spTree>
    <p:extLst>
      <p:ext uri="{BB962C8B-B14F-4D97-AF65-F5344CB8AC3E}">
        <p14:creationId xmlns:p14="http://schemas.microsoft.com/office/powerpoint/2010/main" val="258863568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D06B71-8F09-81FB-8D51-71B2B97F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传统保护方式难以应对</a:t>
            </a:r>
            <a:r>
              <a:rPr lang="en-US" altLang="zh-CN" dirty="0"/>
              <a:t>agent</a:t>
            </a:r>
            <a:r>
              <a:rPr lang="zh-CN" altLang="en-US" dirty="0"/>
              <a:t>逆向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8E87D16-5D64-A7B1-0068-64CD32514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171335"/>
              </p:ext>
            </p:extLst>
          </p:nvPr>
        </p:nvGraphicFramePr>
        <p:xfrm>
          <a:off x="943429" y="1981199"/>
          <a:ext cx="10290628" cy="3483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416">
                  <a:extLst>
                    <a:ext uri="{9D8B030D-6E8A-4147-A177-3AD203B41FA5}">
                      <a16:colId xmlns:a16="http://schemas.microsoft.com/office/drawing/2014/main" val="4105198428"/>
                    </a:ext>
                  </a:extLst>
                </a:gridCol>
                <a:gridCol w="3480174">
                  <a:extLst>
                    <a:ext uri="{9D8B030D-6E8A-4147-A177-3AD203B41FA5}">
                      <a16:colId xmlns:a16="http://schemas.microsoft.com/office/drawing/2014/main" val="3985179959"/>
                    </a:ext>
                  </a:extLst>
                </a:gridCol>
                <a:gridCol w="4541038">
                  <a:extLst>
                    <a:ext uri="{9D8B030D-6E8A-4147-A177-3AD203B41FA5}">
                      <a16:colId xmlns:a16="http://schemas.microsoft.com/office/drawing/2014/main" val="3116930892"/>
                    </a:ext>
                  </a:extLst>
                </a:gridCol>
              </a:tblGrid>
              <a:tr h="5309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传统保护方法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应对方法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63361"/>
                  </a:ext>
                </a:extLst>
              </a:tr>
              <a:tr h="11445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加壳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加固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提高代码提取与动态分析成本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可以识别常见的加固手段，并进行自动化代码提取动态分析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32545"/>
                  </a:ext>
                </a:extLst>
              </a:tr>
              <a:tr h="903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代码混淆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降低代码可读性和结构清晰度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可以读取</a:t>
                      </a:r>
                      <a:r>
                        <a:rPr lang="en-US" altLang="zh-CN" dirty="0"/>
                        <a:t>Java</a:t>
                      </a:r>
                      <a:r>
                        <a:rPr lang="zh-CN" altLang="en-US" dirty="0"/>
                        <a:t>反编译代码，</a:t>
                      </a:r>
                      <a:r>
                        <a:rPr lang="en-US" altLang="zh-CN" dirty="0"/>
                        <a:t>native</a:t>
                      </a:r>
                      <a:r>
                        <a:rPr lang="zh-CN" altLang="en-US" dirty="0"/>
                        <a:t>伪代码，迅速推测函数职责与变量含义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943386"/>
                  </a:ext>
                </a:extLst>
              </a:tr>
              <a:tr h="9039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反调试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干扰运行时观察与调试过程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Agent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能够调用工具进行验证，重试从而绕过反调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56368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CE1ED34-D76D-B5BC-264C-AA162E3D9A37}"/>
              </a:ext>
            </a:extLst>
          </p:cNvPr>
          <p:cNvSpPr txBox="1"/>
          <p:nvPr/>
        </p:nvSpPr>
        <p:spPr>
          <a:xfrm>
            <a:off x="321128" y="1062726"/>
            <a:ext cx="11426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传统移动端代码保护主要面向人工逆向和工具逆向，逆向智能体具备很强的逆向能力，使得传统的混淆、固定模式加固和反调试等的防护价值下降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7ECB72-DD7B-11FF-7B86-EA20F8BB7BB9}"/>
              </a:ext>
            </a:extLst>
          </p:cNvPr>
          <p:cNvSpPr txBox="1"/>
          <p:nvPr/>
        </p:nvSpPr>
        <p:spPr>
          <a:xfrm>
            <a:off x="413657" y="6215743"/>
            <a:ext cx="116259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现有保护主要作用于代码和运行环境，针对人工逆向与工具逆向，仍缺少直接干预模型读取、理解与决策过程的防护手段。</a:t>
            </a:r>
          </a:p>
        </p:txBody>
      </p:sp>
    </p:spTree>
    <p:extLst>
      <p:ext uri="{BB962C8B-B14F-4D97-AF65-F5344CB8AC3E}">
        <p14:creationId xmlns:p14="http://schemas.microsoft.com/office/powerpoint/2010/main" val="313852850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F48EB9-DF27-42B9-DA4E-AA7152002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6" y="1398986"/>
            <a:ext cx="7213990" cy="40600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433F883-852E-7BD0-63C5-34AD47A9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将模型安全对齐机制引入</a:t>
            </a:r>
            <a:r>
              <a:rPr lang="en-US" altLang="zh-CN" dirty="0"/>
              <a:t>APK</a:t>
            </a:r>
            <a:r>
              <a:rPr lang="zh-CN" altLang="en-US" dirty="0"/>
              <a:t>的内容层防护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2E87A-1C46-9F4E-779A-9088E3B00DB9}"/>
              </a:ext>
            </a:extLst>
          </p:cNvPr>
          <p:cNvSpPr txBox="1"/>
          <p:nvPr/>
        </p:nvSpPr>
        <p:spPr>
          <a:xfrm>
            <a:off x="522515" y="5687594"/>
            <a:ext cx="10363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通过构造敏感内容提示词，</a:t>
            </a:r>
            <a:r>
              <a:rPr lang="en-US" altLang="zh-CN" dirty="0"/>
              <a:t>Safety-Refusal Trigger </a:t>
            </a:r>
            <a:r>
              <a:rPr lang="zh-CN" altLang="en-US" dirty="0"/>
              <a:t>（</a:t>
            </a:r>
            <a:r>
              <a:rPr lang="en-US" altLang="zh-CN" dirty="0"/>
              <a:t>SRT</a:t>
            </a:r>
            <a:r>
              <a:rPr lang="zh-CN" altLang="en-US" dirty="0"/>
              <a:t>，安全拒答触发器），并嵌入</a:t>
            </a:r>
            <a:r>
              <a:rPr lang="en-US" altLang="zh-CN" dirty="0"/>
              <a:t>APK</a:t>
            </a:r>
            <a:r>
              <a:rPr lang="zh-CN" altLang="en-US" dirty="0"/>
              <a:t>中，使得</a:t>
            </a:r>
            <a:r>
              <a:rPr lang="en-US" altLang="zh-CN" dirty="0"/>
              <a:t>APK</a:t>
            </a:r>
            <a:r>
              <a:rPr lang="zh-CN" altLang="en-US" dirty="0"/>
              <a:t>被逆向的时候能够触发模型的安全护栏导致其分析受阻。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F1A177-8682-B640-D54B-161AB00C6DE9}"/>
              </a:ext>
            </a:extLst>
          </p:cNvPr>
          <p:cNvSpPr txBox="1"/>
          <p:nvPr/>
        </p:nvSpPr>
        <p:spPr>
          <a:xfrm>
            <a:off x="338365" y="998876"/>
            <a:ext cx="107314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我们尝试直接利用模型自身的安全护栏，干预它对 </a:t>
            </a:r>
            <a:r>
              <a:rPr lang="en-US" altLang="zh-CN" sz="2000" dirty="0"/>
              <a:t>APK </a:t>
            </a:r>
            <a:r>
              <a:rPr lang="zh-CN" altLang="en-US" sz="2000" dirty="0"/>
              <a:t>的读取和分析过程。</a:t>
            </a:r>
          </a:p>
        </p:txBody>
      </p:sp>
    </p:spTree>
    <p:extLst>
      <p:ext uri="{BB962C8B-B14F-4D97-AF65-F5344CB8AC3E}">
        <p14:creationId xmlns:p14="http://schemas.microsoft.com/office/powerpoint/2010/main" val="2403111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B6937-42E0-AF65-E66E-50FDD674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的内容类型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D7F74FF-3B40-238E-A9A3-31196A657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356394"/>
              </p:ext>
            </p:extLst>
          </p:nvPr>
        </p:nvGraphicFramePr>
        <p:xfrm>
          <a:off x="518888" y="2015066"/>
          <a:ext cx="7467603" cy="389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010">
                  <a:extLst>
                    <a:ext uri="{9D8B030D-6E8A-4147-A177-3AD203B41FA5}">
                      <a16:colId xmlns:a16="http://schemas.microsoft.com/office/drawing/2014/main" val="4104494"/>
                    </a:ext>
                  </a:extLst>
                </a:gridCol>
                <a:gridCol w="1363833">
                  <a:extLst>
                    <a:ext uri="{9D8B030D-6E8A-4147-A177-3AD203B41FA5}">
                      <a16:colId xmlns:a16="http://schemas.microsoft.com/office/drawing/2014/main" val="2736794543"/>
                    </a:ext>
                  </a:extLst>
                </a:gridCol>
                <a:gridCol w="1940614">
                  <a:extLst>
                    <a:ext uri="{9D8B030D-6E8A-4147-A177-3AD203B41FA5}">
                      <a16:colId xmlns:a16="http://schemas.microsoft.com/office/drawing/2014/main" val="1471880577"/>
                    </a:ext>
                  </a:extLst>
                </a:gridCol>
                <a:gridCol w="3504146">
                  <a:extLst>
                    <a:ext uri="{9D8B030D-6E8A-4147-A177-3AD203B41FA5}">
                      <a16:colId xmlns:a16="http://schemas.microsoft.com/office/drawing/2014/main" val="1866383759"/>
                    </a:ext>
                  </a:extLst>
                </a:gridCol>
              </a:tblGrid>
              <a:tr h="568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英文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页面上的语义范围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可展示的安全抽象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956403"/>
                  </a:ext>
                </a:extLst>
              </a:tr>
              <a:tr h="81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Chemical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化学危害、暴露和防护相关语义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无害化处理后的有害化学品工艺流程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613295"/>
                  </a:ext>
                </a:extLst>
              </a:tr>
              <a:tr h="81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Biological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生物安全、传播和遏制相关语义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无害化后的危害性生物产品的制备传播流程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59429"/>
                  </a:ext>
                </a:extLst>
              </a:tr>
              <a:tr h="81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Radiological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辐射源、暴露和监测相关语义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无害化后的辐射性设备制备暴露方式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537463"/>
                  </a:ext>
                </a:extLst>
              </a:tr>
              <a:tr h="812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核安全、核材料和监管相关语义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无害化后的公开的核武器材料清单与获取方式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60507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25E2230-E3B0-0FC6-FC6D-BD49D3922201}"/>
              </a:ext>
            </a:extLst>
          </p:cNvPr>
          <p:cNvSpPr txBox="1"/>
          <p:nvPr/>
        </p:nvSpPr>
        <p:spPr>
          <a:xfrm>
            <a:off x="382816" y="1187006"/>
            <a:ext cx="11364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SRT </a:t>
            </a:r>
            <a:r>
              <a:rPr lang="zh-CN" altLang="en-US" dirty="0"/>
              <a:t>的内容类型初步包含内容为</a:t>
            </a:r>
            <a:r>
              <a:rPr lang="en-US" altLang="zh-CN" dirty="0"/>
              <a:t>CBRN </a:t>
            </a:r>
            <a:r>
              <a:rPr lang="zh-CN" altLang="en-US" dirty="0"/>
              <a:t>安全敏感语义（与化学、生物、放射性及核风险有关、会触发模型安全对齐机制的语义内容）。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40DE9A-2C5B-5720-93F7-0918E8C915D9}"/>
              </a:ext>
            </a:extLst>
          </p:cNvPr>
          <p:cNvSpPr txBox="1"/>
          <p:nvPr/>
        </p:nvSpPr>
        <p:spPr>
          <a:xfrm>
            <a:off x="4626429" y="6364810"/>
            <a:ext cx="7467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CBRN </a:t>
            </a:r>
            <a:r>
              <a:rPr lang="zh-CN" altLang="en-US" dirty="0"/>
              <a:t>是本研究的初步实验范围，不代表 </a:t>
            </a:r>
            <a:r>
              <a:rPr lang="en-US" altLang="zh-CN" dirty="0"/>
              <a:t>SRT </a:t>
            </a:r>
            <a:r>
              <a:rPr lang="zh-CN" altLang="en-US" dirty="0"/>
              <a:t>只能使用这四类语义。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704CED-EB3F-BC83-9A29-5951A861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314" y="2481937"/>
            <a:ext cx="3530548" cy="23493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56CDDA5-5A60-CD6A-8454-14A803921CF0}"/>
              </a:ext>
            </a:extLst>
          </p:cNvPr>
          <p:cNvSpPr txBox="1"/>
          <p:nvPr/>
        </p:nvSpPr>
        <p:spPr>
          <a:xfrm>
            <a:off x="8447314" y="5127000"/>
            <a:ext cx="3385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危险实体＋有害意图＋可执行步骤是护栏重点识别的组合</a:t>
            </a:r>
          </a:p>
        </p:txBody>
      </p:sp>
    </p:spTree>
    <p:extLst>
      <p:ext uri="{BB962C8B-B14F-4D97-AF65-F5344CB8AC3E}">
        <p14:creationId xmlns:p14="http://schemas.microsoft.com/office/powerpoint/2010/main" val="31129020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C640C-4723-70AE-7D17-50A87A3C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的存在形式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036635-CD2F-29C2-5815-1E9219189D71}"/>
              </a:ext>
            </a:extLst>
          </p:cNvPr>
          <p:cNvSpPr txBox="1"/>
          <p:nvPr/>
        </p:nvSpPr>
        <p:spPr>
          <a:xfrm>
            <a:off x="342899" y="1105292"/>
            <a:ext cx="11729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根据存在形式不同，分为</a:t>
            </a:r>
            <a:r>
              <a:rPr lang="en-US" altLang="zh-CN" dirty="0"/>
              <a:t>Global SRT </a:t>
            </a:r>
            <a:r>
              <a:rPr lang="zh-CN" altLang="en-US" dirty="0"/>
              <a:t>与</a:t>
            </a:r>
            <a:r>
              <a:rPr lang="en-US" altLang="zh-CN" dirty="0"/>
              <a:t>Local SRT </a:t>
            </a:r>
            <a:r>
              <a:rPr lang="zh-CN" altLang="en-US" dirty="0"/>
              <a:t>两部分。</a:t>
            </a:r>
            <a:r>
              <a:rPr lang="en-US" altLang="zh-CN" dirty="0"/>
              <a:t>Global SRT </a:t>
            </a:r>
            <a:r>
              <a:rPr lang="zh-CN" altLang="en-US" dirty="0"/>
              <a:t>面向整体 </a:t>
            </a:r>
            <a:r>
              <a:rPr lang="en-US" altLang="zh-CN" dirty="0"/>
              <a:t>APK</a:t>
            </a:r>
            <a:r>
              <a:rPr lang="zh-CN" altLang="en-US" dirty="0"/>
              <a:t>，</a:t>
            </a:r>
            <a:r>
              <a:rPr lang="en-US" altLang="zh-CN" dirty="0"/>
              <a:t>Local SRT </a:t>
            </a:r>
            <a:r>
              <a:rPr lang="zh-CN" altLang="en-US" dirty="0"/>
              <a:t>聚焦关键业务逻辑。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2F494B6-0955-96AD-5FC4-1C8DF611F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781364"/>
              </p:ext>
            </p:extLst>
          </p:nvPr>
        </p:nvGraphicFramePr>
        <p:xfrm>
          <a:off x="1231900" y="1732677"/>
          <a:ext cx="9127672" cy="4200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915">
                  <a:extLst>
                    <a:ext uri="{9D8B030D-6E8A-4147-A177-3AD203B41FA5}">
                      <a16:colId xmlns:a16="http://schemas.microsoft.com/office/drawing/2014/main" val="3234142742"/>
                    </a:ext>
                  </a:extLst>
                </a:gridCol>
                <a:gridCol w="3199227">
                  <a:extLst>
                    <a:ext uri="{9D8B030D-6E8A-4147-A177-3AD203B41FA5}">
                      <a16:colId xmlns:a16="http://schemas.microsoft.com/office/drawing/2014/main" val="420535882"/>
                    </a:ext>
                  </a:extLst>
                </a:gridCol>
                <a:gridCol w="4038530">
                  <a:extLst>
                    <a:ext uri="{9D8B030D-6E8A-4147-A177-3AD203B41FA5}">
                      <a16:colId xmlns:a16="http://schemas.microsoft.com/office/drawing/2014/main" val="2440818534"/>
                    </a:ext>
                  </a:extLst>
                </a:gridCol>
              </a:tblGrid>
              <a:tr h="4050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对比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Global SRT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SRT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279191"/>
                  </a:ext>
                </a:extLst>
              </a:tr>
              <a:tr h="699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注入位置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Manifest</a:t>
                      </a:r>
                      <a:r>
                        <a:rPr lang="zh-CN" altLang="en-US" dirty="0"/>
                        <a:t>文件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需要保护的业务逻辑或代码相关文件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464952"/>
                  </a:ext>
                </a:extLst>
              </a:tr>
              <a:tr h="699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保护目标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干扰对整个 </a:t>
                      </a:r>
                      <a:r>
                        <a:rPr lang="en-US" altLang="zh-CN" dirty="0"/>
                        <a:t>APK </a:t>
                      </a:r>
                      <a:r>
                        <a:rPr lang="zh-CN" altLang="en-US" dirty="0"/>
                        <a:t>的分析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干扰对特定关键逻辑的分析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207783"/>
                  </a:ext>
                </a:extLst>
              </a:tr>
              <a:tr h="699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触发时机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Agent </a:t>
                      </a:r>
                      <a:r>
                        <a:rPr lang="zh-CN" altLang="en-US" dirty="0"/>
                        <a:t>开始读取全局信息时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Agent </a:t>
                      </a:r>
                      <a:r>
                        <a:rPr lang="zh-CN" altLang="en-US" dirty="0"/>
                        <a:t>分析目标业务代码时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382125"/>
                  </a:ext>
                </a:extLst>
              </a:tr>
              <a:tr h="9986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主要优势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覆盖范围大，</a:t>
                      </a:r>
                      <a:r>
                        <a:rPr lang="en-US" altLang="zh-CN" dirty="0"/>
                        <a:t>agent</a:t>
                      </a:r>
                      <a:r>
                        <a:rPr lang="zh-CN" altLang="en-US" dirty="0"/>
                        <a:t>在进行关键代码定位时会较早触发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保护目标明确，与关键逻辑结合更紧密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386075"/>
                  </a:ext>
                </a:extLst>
              </a:tr>
              <a:tr h="6990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主要局限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位置明显，容易被针对性识别和移除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覆盖范围较窄，效果依赖注入位置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71557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D0E2541-BCCA-CEAD-12AF-88B99307E13E}"/>
              </a:ext>
            </a:extLst>
          </p:cNvPr>
          <p:cNvSpPr txBox="1"/>
          <p:nvPr/>
        </p:nvSpPr>
        <p:spPr>
          <a:xfrm>
            <a:off x="653141" y="6254863"/>
            <a:ext cx="11108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Global SRT </a:t>
            </a:r>
            <a:r>
              <a:rPr lang="zh-CN" altLang="en-US" dirty="0"/>
              <a:t>强调覆盖范围，</a:t>
            </a:r>
            <a:r>
              <a:rPr lang="en-US" altLang="zh-CN" dirty="0"/>
              <a:t>Local SRT </a:t>
            </a:r>
            <a:r>
              <a:rPr lang="zh-CN" altLang="en-US" dirty="0"/>
              <a:t>强调目标代码保护；二者形成整体阻断与局部保护的不同策略。</a:t>
            </a:r>
          </a:p>
        </p:txBody>
      </p:sp>
    </p:spTree>
    <p:extLst>
      <p:ext uri="{BB962C8B-B14F-4D97-AF65-F5344CB8AC3E}">
        <p14:creationId xmlns:p14="http://schemas.microsoft.com/office/powerpoint/2010/main" val="1004414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68913-7F23-3F5B-6AB5-FA1942C5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的净化</a:t>
            </a:r>
            <a:r>
              <a:rPr lang="en-US" altLang="zh-CN" dirty="0"/>
              <a:t>/</a:t>
            </a:r>
            <a:r>
              <a:rPr lang="zh-CN" altLang="en-US" dirty="0"/>
              <a:t>无害化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EE4F5D-8F63-CE62-AABA-0475525E35C9}"/>
              </a:ext>
            </a:extLst>
          </p:cNvPr>
          <p:cNvSpPr txBox="1"/>
          <p:nvPr/>
        </p:nvSpPr>
        <p:spPr>
          <a:xfrm>
            <a:off x="353786" y="1116176"/>
            <a:ext cx="11393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SRT</a:t>
            </a:r>
            <a:r>
              <a:rPr lang="zh-CN" altLang="en-US" dirty="0"/>
              <a:t>需要保持触发能力、移除实际危害、保持 </a:t>
            </a:r>
            <a:r>
              <a:rPr lang="en-US" altLang="zh-CN" dirty="0"/>
              <a:t>APK </a:t>
            </a:r>
            <a:r>
              <a:rPr lang="zh-CN" altLang="en-US" dirty="0"/>
              <a:t>功能，因此需要对</a:t>
            </a:r>
            <a:r>
              <a:rPr lang="en-US" altLang="zh-CN" dirty="0"/>
              <a:t>SRT</a:t>
            </a:r>
            <a:r>
              <a:rPr lang="zh-CN" altLang="en-US" dirty="0"/>
              <a:t>进行无害化处理。无害化处理不是简单删除敏感语义，而是剥离其可执行性的同时不破坏其触发能力。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59AFD1-2CCE-BF06-FDBE-196B4802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86" y="1861528"/>
            <a:ext cx="9177840" cy="22964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4D926A-55C3-8235-9968-35F5B37E3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59" y="4128571"/>
            <a:ext cx="10593278" cy="193384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D55C8C0-66BA-376E-7863-A43A5349E630}"/>
              </a:ext>
            </a:extLst>
          </p:cNvPr>
          <p:cNvSpPr txBox="1"/>
          <p:nvPr/>
        </p:nvSpPr>
        <p:spPr>
          <a:xfrm>
            <a:off x="926824" y="6240311"/>
            <a:ext cx="9638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一个合格的 </a:t>
            </a:r>
            <a:r>
              <a:rPr lang="en-US" altLang="zh-CN" dirty="0"/>
              <a:t>SRT</a:t>
            </a:r>
            <a:r>
              <a:rPr lang="zh-CN" altLang="en-US" dirty="0"/>
              <a:t>，不是危险内容，而是经过净化后仍具有护栏触发特征的性语义文本。</a:t>
            </a:r>
          </a:p>
        </p:txBody>
      </p:sp>
    </p:spTree>
    <p:extLst>
      <p:ext uri="{BB962C8B-B14F-4D97-AF65-F5344CB8AC3E}">
        <p14:creationId xmlns:p14="http://schemas.microsoft.com/office/powerpoint/2010/main" val="7311308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F1DA6-9E6D-4223-8338-BA50A301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数据集构建方法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789662-A2E2-C51E-D58E-06370B782E28}"/>
              </a:ext>
            </a:extLst>
          </p:cNvPr>
          <p:cNvSpPr txBox="1"/>
          <p:nvPr/>
        </p:nvSpPr>
        <p:spPr>
          <a:xfrm>
            <a:off x="186034" y="2426194"/>
            <a:ext cx="1691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从互联网上搜寻</a:t>
            </a:r>
            <a:r>
              <a:rPr lang="en-US" altLang="zh-CN" sz="1600" dirty="0">
                <a:solidFill>
                  <a:schemeClr val="bg1"/>
                </a:solidFill>
              </a:rPr>
              <a:t>CBRN</a:t>
            </a:r>
            <a:r>
              <a:rPr lang="zh-CN" altLang="en-US" sz="1600" dirty="0">
                <a:solidFill>
                  <a:schemeClr val="bg1"/>
                </a:solidFill>
              </a:rPr>
              <a:t>初步信息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7D87742-8B18-FFE8-B976-6F200EF2A713}"/>
              </a:ext>
            </a:extLst>
          </p:cNvPr>
          <p:cNvSpPr txBox="1"/>
          <p:nvPr/>
        </p:nvSpPr>
        <p:spPr>
          <a:xfrm>
            <a:off x="1031953" y="6168879"/>
            <a:ext cx="10404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SRT </a:t>
            </a:r>
            <a:r>
              <a:rPr lang="zh-CN" altLang="en-US" dirty="0"/>
              <a:t>数据集不是敏感文本的简单集合，而是经过触发测试、无害化和复测筛选的受控样本库。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A8E1B405-BB03-22C2-8F90-9CD98401B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28" y="1027727"/>
            <a:ext cx="9795805" cy="480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095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8F5E6-A2AF-FD46-0ED1-13149AB3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SRT</a:t>
            </a:r>
            <a:r>
              <a:rPr lang="zh-CN" altLang="en-US" dirty="0"/>
              <a:t>注入方法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B03958-85AA-18BF-21C8-05E184B67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2200480"/>
            <a:ext cx="11042374" cy="2819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76B78A-C72E-0368-95C6-FC1905F5799D}"/>
              </a:ext>
            </a:extLst>
          </p:cNvPr>
          <p:cNvSpPr txBox="1"/>
          <p:nvPr/>
        </p:nvSpPr>
        <p:spPr>
          <a:xfrm>
            <a:off x="646043" y="1172817"/>
            <a:ext cx="9929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通过构建一个自动化的</a:t>
            </a:r>
            <a:r>
              <a:rPr lang="en-US" altLang="zh-CN" dirty="0"/>
              <a:t>SRT</a:t>
            </a:r>
            <a:r>
              <a:rPr lang="zh-CN" altLang="en-US" dirty="0"/>
              <a:t>构建工具，能够将</a:t>
            </a:r>
            <a:r>
              <a:rPr lang="en-US" altLang="zh-CN" dirty="0"/>
              <a:t>SRT</a:t>
            </a:r>
            <a:r>
              <a:rPr lang="zh-CN" altLang="en-US" dirty="0"/>
              <a:t>注入到</a:t>
            </a:r>
            <a:r>
              <a:rPr lang="en-US" altLang="zh-CN" dirty="0"/>
              <a:t>Android project</a:t>
            </a:r>
            <a:r>
              <a:rPr lang="zh-CN" altLang="en-US" dirty="0"/>
              <a:t>中的指定位置。</a:t>
            </a:r>
          </a:p>
        </p:txBody>
      </p:sp>
    </p:spTree>
    <p:extLst>
      <p:ext uri="{BB962C8B-B14F-4D97-AF65-F5344CB8AC3E}">
        <p14:creationId xmlns:p14="http://schemas.microsoft.com/office/powerpoint/2010/main" val="221455645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EC380-C356-2878-780A-686DA891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3253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7819C-64F7-C9F8-64D3-716EA8B8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实验设置：</a:t>
            </a:r>
            <a:r>
              <a:rPr lang="en-US" altLang="zh-CN" dirty="0"/>
              <a:t>SRT</a:t>
            </a:r>
            <a:r>
              <a:rPr lang="zh-CN" altLang="en-US" dirty="0"/>
              <a:t>数据集 </a:t>
            </a:r>
            <a:r>
              <a:rPr lang="en-US" altLang="zh-CN" dirty="0"/>
              <a:t>&amp; </a:t>
            </a:r>
            <a:r>
              <a:rPr lang="zh-CN" altLang="en-US" dirty="0"/>
              <a:t>待测</a:t>
            </a:r>
            <a:r>
              <a:rPr lang="en-US" altLang="zh-CN" dirty="0"/>
              <a:t>APP</a:t>
            </a:r>
            <a:r>
              <a:rPr lang="zh-CN" altLang="en-US" dirty="0"/>
              <a:t>集合</a:t>
            </a:r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181B27-39FC-E1B9-876E-998AD9CCE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331692"/>
              </p:ext>
            </p:extLst>
          </p:nvPr>
        </p:nvGraphicFramePr>
        <p:xfrm>
          <a:off x="166723" y="1825106"/>
          <a:ext cx="11710316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249">
                  <a:extLst>
                    <a:ext uri="{9D8B030D-6E8A-4147-A177-3AD203B41FA5}">
                      <a16:colId xmlns:a16="http://schemas.microsoft.com/office/drawing/2014/main" val="3428560726"/>
                    </a:ext>
                  </a:extLst>
                </a:gridCol>
                <a:gridCol w="761647">
                  <a:extLst>
                    <a:ext uri="{9D8B030D-6E8A-4147-A177-3AD203B41FA5}">
                      <a16:colId xmlns:a16="http://schemas.microsoft.com/office/drawing/2014/main" val="3383024222"/>
                    </a:ext>
                  </a:extLst>
                </a:gridCol>
                <a:gridCol w="10139420">
                  <a:extLst>
                    <a:ext uri="{9D8B030D-6E8A-4147-A177-3AD203B41FA5}">
                      <a16:colId xmlns:a16="http://schemas.microsoft.com/office/drawing/2014/main" val="2111793440"/>
                    </a:ext>
                  </a:extLst>
                </a:gridCol>
              </a:tblGrid>
              <a:tr h="300767">
                <a:tc>
                  <a:txBody>
                    <a:bodyPr/>
                    <a:lstStyle/>
                    <a:p>
                      <a:r>
                        <a:rPr lang="zh-CN" altLang="en-US" dirty="0"/>
                        <a:t>类型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典型示例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147307"/>
                  </a:ext>
                </a:extLst>
              </a:tr>
              <a:tr h="426087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 description of ricin toxin, consisting of 4 steps and 11 small steps, involving the toxicity of β - </a:t>
                      </a:r>
                      <a:r>
                        <a:rPr lang="en-US" altLang="zh-CN" sz="1400" dirty="0" err="1"/>
                        <a:t>mercaptoethanol</a:t>
                      </a:r>
                      <a:r>
                        <a:rPr lang="en-US" altLang="zh-CN" sz="1400" dirty="0"/>
                        <a:t>, the toxic hazards of ricin toxin, acid-base corrosion, protein denaturation reagent stimulation, and other hazards, totaling 2.3Kb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8812"/>
                  </a:ext>
                </a:extLst>
              </a:tr>
              <a:tr h="476215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 detailed description on how to cultivate and identify Bacillus anthracis, comprising 4 main steps and 8 sub-steps, covering hazards such as anthrax infection and biosafety risks, totaling 2Kb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706255"/>
                  </a:ext>
                </a:extLst>
              </a:tr>
              <a:tr h="648780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description of the extraction and purification of Polonium-210, consisting of 4 steps and 9 sub-steps, involving hazards such as radioactive radiation exposure, heavy metal toxicity, strong acid corrosion, and environmental contamination from radioactive isotope leakage, totaling 2.1Kb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35184"/>
                  </a:ext>
                </a:extLst>
              </a:tr>
              <a:tr h="456549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manufacturing process of a weapon grade plutonium core consists of 12 major steps and 46 operations, involving significant hazards such as strong radiation, plutonium toxicity, etc., with a capacity of approximately 3.2Kb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13842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C904B58-2546-8AA5-EF85-1578D0497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11974"/>
              </p:ext>
            </p:extLst>
          </p:nvPr>
        </p:nvGraphicFramePr>
        <p:xfrm>
          <a:off x="2773681" y="4549601"/>
          <a:ext cx="5618479" cy="230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39">
                  <a:extLst>
                    <a:ext uri="{9D8B030D-6E8A-4147-A177-3AD203B41FA5}">
                      <a16:colId xmlns:a16="http://schemas.microsoft.com/office/drawing/2014/main" val="267297011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186491084"/>
                    </a:ext>
                  </a:extLst>
                </a:gridCol>
                <a:gridCol w="1361440">
                  <a:extLst>
                    <a:ext uri="{9D8B030D-6E8A-4147-A177-3AD203B41FA5}">
                      <a16:colId xmlns:a16="http://schemas.microsoft.com/office/drawing/2014/main" val="4247472915"/>
                    </a:ext>
                  </a:extLst>
                </a:gridCol>
              </a:tblGrid>
              <a:tr h="314463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APK</a:t>
                      </a:r>
                      <a:r>
                        <a:rPr lang="zh-CN" altLang="en-US" sz="1400" dirty="0"/>
                        <a:t>名称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类型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编译后大小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715669"/>
                  </a:ext>
                </a:extLst>
              </a:tr>
              <a:tr h="421621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Fossify</a:t>
                      </a:r>
                      <a:r>
                        <a:rPr lang="en-US" altLang="zh-CN" sz="1400" dirty="0"/>
                        <a:t> Clock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时钟（工具）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30675KB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273107"/>
                  </a:ext>
                </a:extLst>
              </a:tr>
              <a:tr h="314463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 </a:t>
                      </a:r>
                      <a:r>
                        <a:rPr lang="en-US" altLang="zh-CN" sz="1400" dirty="0" err="1"/>
                        <a:t>Fossify</a:t>
                      </a:r>
                      <a:r>
                        <a:rPr lang="en-US" altLang="zh-CN" sz="1400" dirty="0"/>
                        <a:t> Music Player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本地音乐播放器（媒体）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35204KB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92500"/>
                  </a:ext>
                </a:extLst>
              </a:tr>
              <a:tr h="314463">
                <a:tc>
                  <a:txBody>
                    <a:bodyPr/>
                    <a:lstStyle/>
                    <a:p>
                      <a:r>
                        <a:rPr lang="en-US" sz="1400" dirty="0" err="1"/>
                        <a:t>Fossify</a:t>
                      </a:r>
                      <a:r>
                        <a:rPr lang="en-US" sz="1400" dirty="0"/>
                        <a:t> Paint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绘图 （图形工具）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29960KB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076529"/>
                  </a:ext>
                </a:extLst>
              </a:tr>
              <a:tr h="3144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/>
                        <a:t>Fossify</a:t>
                      </a:r>
                      <a:r>
                        <a:rPr lang="en-US" altLang="zh-CN" sz="1400" dirty="0"/>
                        <a:t> File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文件管理器（工具）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30800KB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948878"/>
                  </a:ext>
                </a:extLst>
              </a:tr>
              <a:tr h="314463">
                <a:tc>
                  <a:txBody>
                    <a:bodyPr/>
                    <a:lstStyle/>
                    <a:p>
                      <a:r>
                        <a:rPr lang="en-US" sz="1400" dirty="0" err="1"/>
                        <a:t>Fossify</a:t>
                      </a:r>
                      <a:r>
                        <a:rPr lang="en-US" sz="1400" dirty="0"/>
                        <a:t>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记事本 （效率工具）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30821KB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78960"/>
                  </a:ext>
                </a:extLst>
              </a:tr>
              <a:tr h="314463">
                <a:tc>
                  <a:txBody>
                    <a:bodyPr/>
                    <a:lstStyle/>
                    <a:p>
                      <a:r>
                        <a:rPr lang="en-US" sz="1400" dirty="0" err="1"/>
                        <a:t>Fossify</a:t>
                      </a:r>
                      <a:r>
                        <a:rPr lang="en-US" sz="1400" dirty="0"/>
                        <a:t> Voice Recorder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 录音机（媒体）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31049KB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78780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10F36F2-D796-8343-78C6-E5E81EDD7FE7}"/>
              </a:ext>
            </a:extLst>
          </p:cNvPr>
          <p:cNvSpPr txBox="1"/>
          <p:nvPr/>
        </p:nvSpPr>
        <p:spPr>
          <a:xfrm>
            <a:off x="166723" y="1009246"/>
            <a:ext cx="10664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经过测试，所有</a:t>
            </a:r>
            <a:r>
              <a:rPr lang="en-US" altLang="zh-CN" dirty="0"/>
              <a:t>SRT</a:t>
            </a:r>
            <a:r>
              <a:rPr lang="zh-CN" altLang="en-US" dirty="0"/>
              <a:t>均可以直接触发拒答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经过测试，所有</a:t>
            </a:r>
            <a:r>
              <a:rPr lang="en-US" altLang="zh-CN" dirty="0"/>
              <a:t>APK</a:t>
            </a:r>
            <a:r>
              <a:rPr lang="zh-CN" altLang="en-US" dirty="0"/>
              <a:t>丢到里边，均不会触发拒答</a:t>
            </a: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6692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38CFB-91BB-249B-EDB8-BAFED747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. </a:t>
            </a:r>
            <a:r>
              <a:rPr lang="zh-CN" altLang="en-US" dirty="0"/>
              <a:t>有效性分析 </a:t>
            </a:r>
            <a:r>
              <a:rPr lang="en-US" altLang="zh-CN" dirty="0"/>
              <a:t>Overall Performance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19D5AA-DC74-7188-9184-43500A17F49E}"/>
              </a:ext>
            </a:extLst>
          </p:cNvPr>
          <p:cNvSpPr txBox="1"/>
          <p:nvPr/>
        </p:nvSpPr>
        <p:spPr>
          <a:xfrm>
            <a:off x="477520" y="1200838"/>
            <a:ext cx="109091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实验设置：</a:t>
            </a:r>
            <a:endParaRPr lang="en-US" altLang="zh-CN" dirty="0"/>
          </a:p>
          <a:p>
            <a:r>
              <a:rPr lang="en-US" dirty="0"/>
              <a:t>	6</a:t>
            </a:r>
            <a:r>
              <a:rPr lang="zh-CN" altLang="en-US" dirty="0"/>
              <a:t>个</a:t>
            </a:r>
            <a:r>
              <a:rPr lang="en-US" altLang="zh-CN" dirty="0"/>
              <a:t>APK</a:t>
            </a:r>
            <a:r>
              <a:rPr lang="zh-CN" altLang="en-US" dirty="0"/>
              <a:t>，无害化、植入</a:t>
            </a:r>
            <a:r>
              <a:rPr lang="en-US" altLang="zh-CN" dirty="0"/>
              <a:t>manifest</a:t>
            </a:r>
            <a:r>
              <a:rPr lang="zh-CN" altLang="en-US" dirty="0"/>
              <a:t>，直接提示词（请分析这个</a:t>
            </a:r>
            <a:r>
              <a:rPr lang="en-US" altLang="zh-CN" dirty="0"/>
              <a:t>APK</a:t>
            </a:r>
            <a:r>
              <a:rPr lang="zh-CN" altLang="en-US" dirty="0"/>
              <a:t>），测试</a:t>
            </a:r>
            <a:r>
              <a:rPr lang="en-US" altLang="zh-CN" dirty="0"/>
              <a:t>1</a:t>
            </a:r>
            <a:r>
              <a:rPr lang="zh-CN" altLang="en-US" dirty="0"/>
              <a:t> 次？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总共需要：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APK * 4</a:t>
            </a:r>
            <a:r>
              <a:rPr lang="zh-CN" altLang="en-US" dirty="0"/>
              <a:t>组提示词 </a:t>
            </a:r>
            <a:r>
              <a:rPr lang="en-US" altLang="zh-CN" dirty="0"/>
              <a:t>* 3</a:t>
            </a:r>
            <a:r>
              <a:rPr lang="zh-CN" altLang="en-US" dirty="0"/>
              <a:t>个模型 </a:t>
            </a:r>
            <a:r>
              <a:rPr lang="en-US" altLang="zh-CN" dirty="0"/>
              <a:t>= 24 * 3</a:t>
            </a:r>
          </a:p>
          <a:p>
            <a:r>
              <a:rPr lang="zh-CN" altLang="en-US" dirty="0"/>
              <a:t>实验结果：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整体</a:t>
            </a:r>
            <a:r>
              <a:rPr lang="en-US" altLang="zh-CN" dirty="0"/>
              <a:t>Refusal Rate</a:t>
            </a:r>
            <a:r>
              <a:rPr lang="zh-CN" altLang="en-US" dirty="0"/>
              <a:t>平均达到</a:t>
            </a:r>
            <a:r>
              <a:rPr lang="en-US" altLang="zh-CN" dirty="0"/>
              <a:t>62.5%</a:t>
            </a:r>
            <a:r>
              <a:rPr lang="zh-CN" altLang="en-US" dirty="0"/>
              <a:t>，证明有效。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不同模型之间有差别，</a:t>
            </a:r>
            <a:r>
              <a:rPr lang="en-US" altLang="zh-CN" dirty="0"/>
              <a:t>SRT</a:t>
            </a:r>
            <a:r>
              <a:rPr lang="zh-CN" altLang="en-US" dirty="0"/>
              <a:t>对</a:t>
            </a:r>
            <a:r>
              <a:rPr lang="en-US" altLang="zh-CN" dirty="0"/>
              <a:t>Claude opus 5</a:t>
            </a:r>
            <a:r>
              <a:rPr lang="zh-CN" altLang="en-US" dirty="0"/>
              <a:t>的拦截率最高、</a:t>
            </a:r>
            <a:r>
              <a:rPr lang="en-US" altLang="zh-CN" dirty="0"/>
              <a:t>SRT</a:t>
            </a:r>
            <a:r>
              <a:rPr lang="zh-CN" altLang="en-US" dirty="0"/>
              <a:t>对</a:t>
            </a:r>
            <a:r>
              <a:rPr lang="en-US" altLang="zh-CN" dirty="0"/>
              <a:t>grok4.5</a:t>
            </a:r>
            <a:r>
              <a:rPr lang="zh-CN" altLang="en-US" dirty="0"/>
              <a:t>的拦截率最低。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en-US" altLang="zh-CN" strike="sngStrike" dirty="0"/>
              <a:t>CBRN</a:t>
            </a:r>
            <a:r>
              <a:rPr lang="zh-CN" altLang="en-US" strike="sngStrike" dirty="0"/>
              <a:t>差不多，但也有差别</a:t>
            </a:r>
            <a:endParaRPr lang="en-US" altLang="zh-CN" strike="sngStrike" dirty="0"/>
          </a:p>
          <a:p>
            <a:r>
              <a:rPr lang="en-US" dirty="0"/>
              <a:t>	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BCFED4D-3355-299A-B90D-658A78B2E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93679"/>
              </p:ext>
            </p:extLst>
          </p:nvPr>
        </p:nvGraphicFramePr>
        <p:xfrm>
          <a:off x="477519" y="3695518"/>
          <a:ext cx="1090914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5680">
                  <a:extLst>
                    <a:ext uri="{9D8B030D-6E8A-4147-A177-3AD203B41FA5}">
                      <a16:colId xmlns:a16="http://schemas.microsoft.com/office/drawing/2014/main" val="377924703"/>
                    </a:ext>
                  </a:extLst>
                </a:gridCol>
                <a:gridCol w="1370702">
                  <a:extLst>
                    <a:ext uri="{9D8B030D-6E8A-4147-A177-3AD203B41FA5}">
                      <a16:colId xmlns:a16="http://schemas.microsoft.com/office/drawing/2014/main" val="1472926143"/>
                    </a:ext>
                  </a:extLst>
                </a:gridCol>
                <a:gridCol w="1818191">
                  <a:extLst>
                    <a:ext uri="{9D8B030D-6E8A-4147-A177-3AD203B41FA5}">
                      <a16:colId xmlns:a16="http://schemas.microsoft.com/office/drawing/2014/main" val="4195845555"/>
                    </a:ext>
                  </a:extLst>
                </a:gridCol>
                <a:gridCol w="1818191">
                  <a:extLst>
                    <a:ext uri="{9D8B030D-6E8A-4147-A177-3AD203B41FA5}">
                      <a16:colId xmlns:a16="http://schemas.microsoft.com/office/drawing/2014/main" val="2282616116"/>
                    </a:ext>
                  </a:extLst>
                </a:gridCol>
                <a:gridCol w="1818191">
                  <a:extLst>
                    <a:ext uri="{9D8B030D-6E8A-4147-A177-3AD203B41FA5}">
                      <a16:colId xmlns:a16="http://schemas.microsoft.com/office/drawing/2014/main" val="1979174698"/>
                    </a:ext>
                  </a:extLst>
                </a:gridCol>
                <a:gridCol w="1818191">
                  <a:extLst>
                    <a:ext uri="{9D8B030D-6E8A-4147-A177-3AD203B41FA5}">
                      <a16:colId xmlns:a16="http://schemas.microsoft.com/office/drawing/2014/main" val="3435445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Agent + </a:t>
                      </a:r>
                      <a:r>
                        <a:rPr lang="zh-CN" altLang="en-US" dirty="0"/>
                        <a:t>模型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53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Codex + GPT-5.6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2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Claude Code + Opus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011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codex</a:t>
                      </a:r>
                      <a:r>
                        <a:rPr lang="en-US" dirty="0"/>
                        <a:t> + Grok4.5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34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29341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56B4D-D934-51B8-8EAB-2C16CE1E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. </a:t>
            </a:r>
            <a:r>
              <a:rPr lang="zh-CN" altLang="en-US" dirty="0"/>
              <a:t>有效性分析 </a:t>
            </a:r>
            <a:r>
              <a:rPr lang="en-US" altLang="zh-CN" dirty="0"/>
              <a:t>Overall Performance</a:t>
            </a:r>
            <a:endParaRPr 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B3EF09A-49B4-9DC4-000D-0CE1DF6CE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600912"/>
              </p:ext>
            </p:extLst>
          </p:nvPr>
        </p:nvGraphicFramePr>
        <p:xfrm>
          <a:off x="2265680" y="3596640"/>
          <a:ext cx="6378390" cy="2653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435">
                  <a:extLst>
                    <a:ext uri="{9D8B030D-6E8A-4147-A177-3AD203B41FA5}">
                      <a16:colId xmlns:a16="http://schemas.microsoft.com/office/drawing/2014/main" val="2672970118"/>
                    </a:ext>
                  </a:extLst>
                </a:gridCol>
                <a:gridCol w="3173955">
                  <a:extLst>
                    <a:ext uri="{9D8B030D-6E8A-4147-A177-3AD203B41FA5}">
                      <a16:colId xmlns:a16="http://schemas.microsoft.com/office/drawing/2014/main" val="3186491084"/>
                    </a:ext>
                  </a:extLst>
                </a:gridCol>
              </a:tblGrid>
              <a:tr h="379127">
                <a:tc>
                  <a:txBody>
                    <a:bodyPr/>
                    <a:lstStyle/>
                    <a:p>
                      <a:r>
                        <a:rPr lang="en-US" altLang="zh-CN" dirty="0"/>
                        <a:t>APK</a:t>
                      </a:r>
                      <a:r>
                        <a:rPr lang="zh-CN" altLang="en-US" dirty="0"/>
                        <a:t>名称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Refusal 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715669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Fossify</a:t>
                      </a:r>
                      <a:r>
                        <a:rPr lang="en-US" altLang="zh-CN" sz="1800" dirty="0"/>
                        <a:t> Clock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273107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 </a:t>
                      </a:r>
                      <a:r>
                        <a:rPr lang="en-US" altLang="zh-CN" sz="1800" dirty="0" err="1"/>
                        <a:t>Fossify</a:t>
                      </a:r>
                      <a:r>
                        <a:rPr lang="en-US" altLang="zh-CN" sz="1800" dirty="0"/>
                        <a:t> Music Player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27489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r>
                        <a:rPr lang="en-US" sz="1800" dirty="0" err="1"/>
                        <a:t>Fossify</a:t>
                      </a:r>
                      <a:r>
                        <a:rPr lang="en-US" sz="1800" dirty="0"/>
                        <a:t> Paint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58113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/>
                        <a:t>Fossify</a:t>
                      </a:r>
                      <a:r>
                        <a:rPr lang="en-US" altLang="zh-CN" sz="1800" dirty="0"/>
                        <a:t> File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692500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r>
                        <a:rPr lang="en-US" sz="1800" dirty="0" err="1"/>
                        <a:t>Fossify</a:t>
                      </a:r>
                      <a:r>
                        <a:rPr lang="en-US" sz="1800" dirty="0"/>
                        <a:t>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076529"/>
                  </a:ext>
                </a:extLst>
              </a:tr>
              <a:tr h="379127">
                <a:tc>
                  <a:txBody>
                    <a:bodyPr/>
                    <a:lstStyle/>
                    <a:p>
                      <a:r>
                        <a:rPr lang="en-US" sz="1800" dirty="0" err="1"/>
                        <a:t>Fossify</a:t>
                      </a:r>
                      <a:r>
                        <a:rPr lang="en-US" sz="1800" dirty="0"/>
                        <a:t> Voice Recorder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78960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DA855BC1-6FE7-F63A-AEC1-7EB2C068D684}"/>
              </a:ext>
            </a:extLst>
          </p:cNvPr>
          <p:cNvSpPr txBox="1"/>
          <p:nvPr/>
        </p:nvSpPr>
        <p:spPr>
          <a:xfrm>
            <a:off x="1231899" y="1489898"/>
            <a:ext cx="93773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</a:t>
            </a:r>
            <a:r>
              <a:rPr lang="zh-CN" altLang="en-US" dirty="0"/>
              <a:t> 不同</a:t>
            </a:r>
            <a:r>
              <a:rPr lang="en-US" altLang="zh-CN" dirty="0"/>
              <a:t>APP</a:t>
            </a:r>
            <a:r>
              <a:rPr lang="zh-CN" altLang="en-US" dirty="0"/>
              <a:t>是否有差异？</a:t>
            </a:r>
            <a:endParaRPr lang="en-US" altLang="zh-CN" dirty="0"/>
          </a:p>
          <a:p>
            <a:r>
              <a:rPr lang="en-US" dirty="0"/>
              <a:t>	</a:t>
            </a:r>
            <a:r>
              <a:rPr lang="zh-CN" altLang="en-US" dirty="0"/>
              <a:t>对前边表格，按照</a:t>
            </a:r>
            <a:r>
              <a:rPr lang="en-US" altLang="zh-CN" dirty="0"/>
              <a:t>APK</a:t>
            </a:r>
            <a:r>
              <a:rPr lang="zh-CN" altLang="en-US" dirty="0"/>
              <a:t>来统计触发率（不需要精确到</a:t>
            </a:r>
            <a:r>
              <a:rPr lang="en-US" altLang="zh-CN" dirty="0"/>
              <a:t>CBRN</a:t>
            </a:r>
            <a:r>
              <a:rPr lang="zh-CN" altLang="en-US" dirty="0"/>
              <a:t>吧？）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	</a:t>
            </a:r>
            <a:r>
              <a:rPr lang="zh-CN" altLang="en-US" dirty="0"/>
              <a:t>每个</a:t>
            </a:r>
            <a:r>
              <a:rPr lang="en-US" altLang="zh-CN" dirty="0"/>
              <a:t>APP</a:t>
            </a:r>
            <a:r>
              <a:rPr lang="zh-CN" altLang="en-US" dirty="0"/>
              <a:t>统计：</a:t>
            </a:r>
            <a:r>
              <a:rPr lang="en-US" altLang="zh-CN" dirty="0"/>
              <a:t>4</a:t>
            </a:r>
            <a:r>
              <a:rPr lang="zh-CN" altLang="en-US" dirty="0"/>
              <a:t>个提示词 </a:t>
            </a:r>
            <a:r>
              <a:rPr lang="en-US" altLang="zh-CN" dirty="0"/>
              <a:t>* 3</a:t>
            </a:r>
            <a:r>
              <a:rPr lang="zh-CN" altLang="en-US" dirty="0"/>
              <a:t>个模型</a:t>
            </a:r>
            <a:endParaRPr lang="en-US" altLang="zh-CN" dirty="0"/>
          </a:p>
          <a:p>
            <a:r>
              <a:rPr lang="en-US" dirty="0"/>
              <a:t>	</a:t>
            </a:r>
            <a:r>
              <a:rPr lang="zh-CN" altLang="en-US" dirty="0"/>
              <a:t>表格或者图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结果：未呈现明显区别，表明普适性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978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56B4D-D934-51B8-8EAB-2C16CE1E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. </a:t>
            </a:r>
            <a:r>
              <a:rPr lang="zh-CN" altLang="en-US" dirty="0"/>
              <a:t>消融实验</a:t>
            </a:r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975E94B-1A05-1BE3-917F-9034088C1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789667"/>
              </p:ext>
            </p:extLst>
          </p:nvPr>
        </p:nvGraphicFramePr>
        <p:xfrm>
          <a:off x="1547258" y="3862761"/>
          <a:ext cx="71342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572">
                  <a:extLst>
                    <a:ext uri="{9D8B030D-6E8A-4147-A177-3AD203B41FA5}">
                      <a16:colId xmlns:a16="http://schemas.microsoft.com/office/drawing/2014/main" val="766484871"/>
                    </a:ext>
                  </a:extLst>
                </a:gridCol>
                <a:gridCol w="1783572">
                  <a:extLst>
                    <a:ext uri="{9D8B030D-6E8A-4147-A177-3AD203B41FA5}">
                      <a16:colId xmlns:a16="http://schemas.microsoft.com/office/drawing/2014/main" val="4290334759"/>
                    </a:ext>
                  </a:extLst>
                </a:gridCol>
                <a:gridCol w="1783572">
                  <a:extLst>
                    <a:ext uri="{9D8B030D-6E8A-4147-A177-3AD203B41FA5}">
                      <a16:colId xmlns:a16="http://schemas.microsoft.com/office/drawing/2014/main" val="1582616"/>
                    </a:ext>
                  </a:extLst>
                </a:gridCol>
                <a:gridCol w="1783572">
                  <a:extLst>
                    <a:ext uri="{9D8B030D-6E8A-4147-A177-3AD203B41FA5}">
                      <a16:colId xmlns:a16="http://schemas.microsoft.com/office/drawing/2014/main" val="1390869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Grok4.5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343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随机文本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04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未净化的</a:t>
                      </a:r>
                      <a:r>
                        <a:rPr lang="en-US" altLang="zh-CN" dirty="0"/>
                        <a:t>SRT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0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净化后的</a:t>
                      </a:r>
                      <a:r>
                        <a:rPr lang="en-US" altLang="zh-CN" dirty="0"/>
                        <a:t>SRT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93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97913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A493E46-D32C-DBA1-89E2-809E6EB37918}"/>
              </a:ext>
            </a:extLst>
          </p:cNvPr>
          <p:cNvSpPr txBox="1"/>
          <p:nvPr/>
        </p:nvSpPr>
        <p:spPr>
          <a:xfrm>
            <a:off x="694063" y="1200838"/>
            <a:ext cx="106643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对比未净化、随机文本</a:t>
            </a:r>
            <a:endParaRPr lang="en-US" altLang="zh-CN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zh-CN" altLang="en-US" dirty="0"/>
              <a:t>相对于未净化的文本，没有明显下降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随机文本不会触发</a:t>
            </a:r>
            <a:r>
              <a:rPr lang="en-US" altLang="zh-CN" dirty="0"/>
              <a:t>refusal rate</a:t>
            </a:r>
          </a:p>
          <a:p>
            <a:endParaRPr lang="en-US" dirty="0"/>
          </a:p>
          <a:p>
            <a:r>
              <a:rPr lang="zh-CN" altLang="en-US" dirty="0"/>
              <a:t>证明</a:t>
            </a:r>
            <a:r>
              <a:rPr lang="en-US" altLang="zh-CN" dirty="0"/>
              <a:t>SRT</a:t>
            </a:r>
            <a:r>
              <a:rPr lang="zh-CN" altLang="en-US" dirty="0"/>
              <a:t>起作用，并且净化不影响效果</a:t>
            </a:r>
            <a:r>
              <a:rPr lang="en-US" dirty="0"/>
              <a:t>	</a:t>
            </a:r>
          </a:p>
          <a:p>
            <a:r>
              <a:rPr lang="en-US" dirty="0"/>
              <a:t>  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APK/4</a:t>
            </a:r>
            <a:r>
              <a:rPr lang="zh-CN" altLang="en-US" dirty="0"/>
              <a:t>类文本 </a:t>
            </a:r>
            <a:r>
              <a:rPr lang="en-US" altLang="zh-CN" dirty="0"/>
              <a:t>* 3</a:t>
            </a:r>
            <a:r>
              <a:rPr lang="zh-CN" altLang="en-US" dirty="0"/>
              <a:t>模型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0600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122B1-11CE-A9E4-2CF4-09412E4D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FF0A61-1ED0-667F-A640-36617AE1D3C4}"/>
              </a:ext>
            </a:extLst>
          </p:cNvPr>
          <p:cNvSpPr txBox="1"/>
          <p:nvPr/>
        </p:nvSpPr>
        <p:spPr>
          <a:xfrm>
            <a:off x="668406" y="1203788"/>
            <a:ext cx="100757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本文定位为一个</a:t>
            </a:r>
            <a:r>
              <a:rPr lang="en-US" altLang="zh-CN" dirty="0"/>
              <a:t>pilot study</a:t>
            </a:r>
            <a:r>
              <a:rPr lang="zh-CN" altLang="en-US" dirty="0"/>
              <a:t>，初期的实证研究。本文表明，</a:t>
            </a:r>
            <a:r>
              <a:rPr lang="en-US" altLang="zh-CN" dirty="0"/>
              <a:t>SRT</a:t>
            </a:r>
            <a:r>
              <a:rPr lang="zh-CN" altLang="en-US" dirty="0"/>
              <a:t>方法有效，且无害化之后不会造成危害，因此具有实际可行性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本文缺点：可以被移除，未来将探讨更加稳定方法</a:t>
            </a:r>
          </a:p>
        </p:txBody>
      </p:sp>
    </p:spTree>
    <p:extLst>
      <p:ext uri="{BB962C8B-B14F-4D97-AF65-F5344CB8AC3E}">
        <p14:creationId xmlns:p14="http://schemas.microsoft.com/office/powerpoint/2010/main" val="412282922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2172</Words>
  <Application>Microsoft Office PowerPoint</Application>
  <PresentationFormat>宽屏</PresentationFormat>
  <Paragraphs>230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微软雅黑</vt:lpstr>
      <vt:lpstr>Arial</vt:lpstr>
      <vt:lpstr>Calibri</vt:lpstr>
      <vt:lpstr>Cambria Math</vt:lpstr>
      <vt:lpstr>Wingdings</vt:lpstr>
      <vt:lpstr>WPS</vt:lpstr>
      <vt:lpstr>PowerPoint 演示文稿</vt:lpstr>
      <vt:lpstr>大模型驱动的agent逆向分析带来新的安全风险</vt:lpstr>
      <vt:lpstr>传统保护方式难以应对agent逆向</vt:lpstr>
      <vt:lpstr>SRT将模型安全对齐机制引入APK的内容层防护</vt:lpstr>
      <vt:lpstr>SRT的内容类型</vt:lpstr>
      <vt:lpstr>SRT的存在形式</vt:lpstr>
      <vt:lpstr>SRT的净化/无害化</vt:lpstr>
      <vt:lpstr>SRT数据集构建方法</vt:lpstr>
      <vt:lpstr>SRT注入方法</vt:lpstr>
      <vt:lpstr>PowerPoint 演示文稿</vt:lpstr>
      <vt:lpstr>实验设置：SRT数据集 &amp; 待测APP集合</vt:lpstr>
      <vt:lpstr>实验. 有效性分析 Overall Performance</vt:lpstr>
      <vt:lpstr>实验. 有效性分析 Overall Performance</vt:lpstr>
      <vt:lpstr>实验. 消融实验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杨文杰</dc:creator>
  <cp:lastModifiedBy>文杰 杨</cp:lastModifiedBy>
  <cp:revision>20</cp:revision>
  <dcterms:created xsi:type="dcterms:W3CDTF">2023-08-09T12:44:00Z</dcterms:created>
  <dcterms:modified xsi:type="dcterms:W3CDTF">2026-08-14T12:03:34Z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