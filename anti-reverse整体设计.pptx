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63" r:id="rId4"/>
    <p:sldId id="258" r:id="rId5"/>
    <p:sldId id="265" r:id="rId6"/>
    <p:sldId id="260" r:id="rId7"/>
    <p:sldId id="259" r:id="rId8"/>
    <p:sldId id="266" r:id="rId9"/>
    <p:sldId id="267" r:id="rId10"/>
    <p:sldId id="261"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tblBg/>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118" autoAdjust="0"/>
  </p:normalViewPr>
  <p:slideViewPr>
    <p:cSldViewPr snapToGrid="0">
      <p:cViewPr varScale="1">
        <p:scale>
          <a:sx n="68" d="100"/>
          <a:sy n="68" d="100"/>
        </p:scale>
        <p:origin x="104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CA2C01-E732-49DC-9EF7-9B465C72103D}" type="datetimeFigureOut">
              <a:rPr lang="zh-CN" altLang="en-US" smtClean="0"/>
              <a:t>2026/9/6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8413A7-6C52-411B-B25A-2B4D58C80DB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6F520CD2-3A54-564A-8F84-B7D9C6371DA6}" type="slidenum">
              <a:rPr kumimoji="1" lang="zh-CN" altLang="en-US" smtClean="0"/>
              <a:t>1</a:t>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bwMode="auto">
          <a:prstGeom prst="rect">
            <a:avLst/>
          </a:prstGeom>
        </p:spPr>
        <p:txBody>
          <a:bodyPr/>
          <a:lstStyle/>
          <a:p>
            <a:r>
              <a:rPr lang="zh-CN" dirty="0"/>
              <a:t>1. 背景图</a:t>
            </a:r>
          </a:p>
        </p:txBody>
      </p:sp>
      <p:sp>
        <p:nvSpPr>
          <p:cNvPr id="4" name="灯片编号占位符 3"/>
          <p:cNvSpPr>
            <a:spLocks noGrp="1"/>
          </p:cNvSpPr>
          <p:nvPr>
            <p:ph type="sldNum" sz="quarter" idx="5"/>
          </p:nvPr>
        </p:nvSpPr>
        <p:spPr/>
        <p:txBody>
          <a:bodyPr/>
          <a:lstStyle/>
          <a:p>
            <a:fld id="{87708D23-9EC4-B64A-8DFD-490C00D553EE}" type="slidenum">
              <a:rPr kumimoji="1" lang="zh-CN" altLang="en-US" smtClean="0"/>
              <a:t>2</a:t>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58413A7-6C52-411B-B25A-2B4D58C80DB0}" type="slidenum">
              <a:rPr lang="zh-CN" altLang="en-US" smtClean="0"/>
              <a:t>3</a:t>
            </a:fld>
            <a:endParaRPr lang="zh-CN" altLang="en-US"/>
          </a:p>
        </p:txBody>
      </p:sp>
    </p:spTree>
    <p:extLst>
      <p:ext uri="{BB962C8B-B14F-4D97-AF65-F5344CB8AC3E}">
        <p14:creationId xmlns:p14="http://schemas.microsoft.com/office/powerpoint/2010/main" val="41954670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bwMode="auto">
          <a:prstGeom prst="rect">
            <a:avLst/>
          </a:prstGeom>
        </p:spPr>
      </p:sp>
      <p:sp>
        <p:nvSpPr>
          <p:cNvPr id="3" name="Notes Placeholder 2"/>
          <p:cNvSpPr>
            <a:spLocks noGrp="1"/>
          </p:cNvSpPr>
          <p:nvPr>
            <p:ph type="body" idx="1"/>
          </p:nvPr>
        </p:nvSpPr>
        <p:spPr bwMode="auto">
          <a:prstGeom prst="rect">
            <a:avLst/>
          </a:prstGeom>
        </p:spPr>
        <p:txBody>
          <a:bodyPr/>
          <a:lstStyle/>
          <a:p>
            <a:r>
              <a:t>1. 整体思路图（传统方法、主动对抗方法），包括了其他两种方法</a:t>
            </a:r>
          </a:p>
        </p:txBody>
      </p:sp>
      <p:sp>
        <p:nvSpPr>
          <p:cNvPr id="4" name="Slide Number Placeholder 3"/>
          <p:cNvSpPr>
            <a:spLocks noGrp="1"/>
          </p:cNvSpPr>
          <p:nvPr>
            <p:ph type="sldNum" sz="quarter" idx="10"/>
          </p:nvPr>
        </p:nvSpPr>
        <p:spPr bwMode="auto">
          <a:prstGeom prst="rect">
            <a:avLst/>
          </a:prstGeom>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84A04-9B9D-5DF7-F2F6-0D134BA321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E84F28-C253-4397-4BBC-6BE1B8925DBD}"/>
              </a:ext>
            </a:extLst>
          </p:cNvPr>
          <p:cNvSpPr>
            <a:spLocks noGrp="1" noRot="1" noChangeAspect="1"/>
          </p:cNvSpPr>
          <p:nvPr>
            <p:ph type="sldImg"/>
          </p:nvPr>
        </p:nvSpPr>
        <p:spPr bwMode="auto">
          <a:prstGeom prst="rect">
            <a:avLst/>
          </a:prstGeom>
        </p:spPr>
      </p:sp>
      <p:sp>
        <p:nvSpPr>
          <p:cNvPr id="3" name="Notes Placeholder 2">
            <a:extLst>
              <a:ext uri="{FF2B5EF4-FFF2-40B4-BE49-F238E27FC236}">
                <a16:creationId xmlns:a16="http://schemas.microsoft.com/office/drawing/2014/main" id="{EAA30252-5D1B-9477-EE66-598594798124}"/>
              </a:ext>
            </a:extLst>
          </p:cNvPr>
          <p:cNvSpPr>
            <a:spLocks noGrp="1"/>
          </p:cNvSpPr>
          <p:nvPr>
            <p:ph type="body" idx="1"/>
          </p:nvPr>
        </p:nvSpPr>
        <p:spPr bwMode="auto">
          <a:prstGeom prst="rect">
            <a:avLst/>
          </a:prstGeom>
        </p:spPr>
        <p:txBody>
          <a:bodyPr/>
          <a:lstStyle/>
          <a:p>
            <a:r>
              <a:rPr dirty="0"/>
              <a:t>1.  </a:t>
            </a:r>
            <a:r>
              <a:rPr dirty="0" err="1"/>
              <a:t>护栏Pool的详细数据，包含哪些类型、多少个；注入载体有哪些、各自有什么优势（特点</a:t>
            </a:r>
            <a:r>
              <a:rPr dirty="0"/>
              <a:t>）</a:t>
            </a:r>
          </a:p>
          <a:p>
            <a:r>
              <a:rPr dirty="0"/>
              <a:t>2. </a:t>
            </a:r>
            <a:r>
              <a:rPr dirty="0" err="1"/>
              <a:t>编译时自动化注入工具，可能的方案图</a:t>
            </a:r>
            <a:endParaRPr dirty="0"/>
          </a:p>
        </p:txBody>
      </p:sp>
      <p:sp>
        <p:nvSpPr>
          <p:cNvPr id="4" name="Slide Number Placeholder 3">
            <a:extLst>
              <a:ext uri="{FF2B5EF4-FFF2-40B4-BE49-F238E27FC236}">
                <a16:creationId xmlns:a16="http://schemas.microsoft.com/office/drawing/2014/main" id="{F070AA01-8A00-D4F0-8BEB-DFC32D5617D2}"/>
              </a:ext>
            </a:extLst>
          </p:cNvPr>
          <p:cNvSpPr>
            <a:spLocks noGrp="1"/>
          </p:cNvSpPr>
          <p:nvPr>
            <p:ph type="sldNum" sz="quarter" idx="10"/>
          </p:nvPr>
        </p:nvSpPr>
        <p:spPr bwMode="auto">
          <a:prstGeom prst="rect">
            <a:avLst/>
          </a:prstGeom>
        </p:spPr>
        <p:txBody>
          <a:bodyPr/>
          <a:lstStyle/>
          <a:p>
            <a:endParaRPr/>
          </a:p>
        </p:txBody>
      </p:sp>
    </p:spTree>
    <p:extLst>
      <p:ext uri="{BB962C8B-B14F-4D97-AF65-F5344CB8AC3E}">
        <p14:creationId xmlns:p14="http://schemas.microsoft.com/office/powerpoint/2010/main" val="28984099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bwMode="auto">
          <a:prstGeom prst="rect">
            <a:avLst/>
          </a:prstGeom>
        </p:spPr>
      </p:sp>
      <p:sp>
        <p:nvSpPr>
          <p:cNvPr id="3" name="Notes Placeholder 2"/>
          <p:cNvSpPr>
            <a:spLocks noGrp="1"/>
          </p:cNvSpPr>
          <p:nvPr>
            <p:ph type="body" idx="1"/>
          </p:nvPr>
        </p:nvSpPr>
        <p:spPr bwMode="auto">
          <a:prstGeom prst="rect">
            <a:avLst/>
          </a:prstGeom>
        </p:spPr>
        <p:txBody>
          <a:bodyPr/>
          <a:lstStyle/>
          <a:p>
            <a:r>
              <a:rPr lang="zh-CN" altLang="en-US" dirty="0"/>
              <a:t>上半部分未注入实现部分，我们的自动化注入怎么实现的，下半部分是如何触发的。</a:t>
            </a:r>
            <a:endParaRPr dirty="0"/>
          </a:p>
        </p:txBody>
      </p:sp>
      <p:sp>
        <p:nvSpPr>
          <p:cNvPr id="4" name="Slide Number Placeholder 3"/>
          <p:cNvSpPr>
            <a:spLocks noGrp="1"/>
          </p:cNvSpPr>
          <p:nvPr>
            <p:ph type="sldNum" sz="quarter" idx="10"/>
          </p:nvPr>
        </p:nvSpPr>
        <p:spPr bwMode="auto">
          <a:prstGeom prst="rect">
            <a:avLst/>
          </a:prstGeom>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bwMode="auto">
          <a:prstGeom prst="rect">
            <a:avLst/>
          </a:prstGeom>
        </p:spPr>
      </p:sp>
      <p:sp>
        <p:nvSpPr>
          <p:cNvPr id="3" name="Notes Placeholder 2"/>
          <p:cNvSpPr>
            <a:spLocks noGrp="1"/>
          </p:cNvSpPr>
          <p:nvPr>
            <p:ph type="body" idx="1"/>
          </p:nvPr>
        </p:nvSpPr>
        <p:spPr bwMode="auto">
          <a:prstGeom prst="rect">
            <a:avLst/>
          </a:prstGeom>
        </p:spPr>
        <p:txBody>
          <a:bodyPr/>
          <a:lstStyle/>
          <a:p>
            <a:r>
              <a:rPr dirty="0"/>
              <a:t>1. </a:t>
            </a:r>
            <a:r>
              <a:rPr dirty="0" err="1"/>
              <a:t>架构图</a:t>
            </a:r>
            <a:endParaRPr dirty="0"/>
          </a:p>
        </p:txBody>
      </p:sp>
      <p:sp>
        <p:nvSpPr>
          <p:cNvPr id="4" name="Slide Number Placeholder 3"/>
          <p:cNvSpPr>
            <a:spLocks noGrp="1"/>
          </p:cNvSpPr>
          <p:nvPr>
            <p:ph type="sldNum" sz="quarter" idx="10"/>
          </p:nvPr>
        </p:nvSpPr>
        <p:spPr bwMode="auto">
          <a:prstGeom prst="rect">
            <a:avLst/>
          </a:prstGeom>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D129E-1498-92C6-7CC9-E29FB567B2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4BA856-D437-3E03-4158-AC51884F1711}"/>
              </a:ext>
            </a:extLst>
          </p:cNvPr>
          <p:cNvSpPr>
            <a:spLocks noGrp="1" noRot="1" noChangeAspect="1"/>
          </p:cNvSpPr>
          <p:nvPr>
            <p:ph type="sldImg"/>
          </p:nvPr>
        </p:nvSpPr>
        <p:spPr bwMode="auto">
          <a:prstGeom prst="rect">
            <a:avLst/>
          </a:prstGeom>
        </p:spPr>
      </p:sp>
      <p:sp>
        <p:nvSpPr>
          <p:cNvPr id="3" name="Notes Placeholder 2">
            <a:extLst>
              <a:ext uri="{FF2B5EF4-FFF2-40B4-BE49-F238E27FC236}">
                <a16:creationId xmlns:a16="http://schemas.microsoft.com/office/drawing/2014/main" id="{0EE5D35D-2160-9322-A5CA-552E7B7B31CC}"/>
              </a:ext>
            </a:extLst>
          </p:cNvPr>
          <p:cNvSpPr>
            <a:spLocks noGrp="1"/>
          </p:cNvSpPr>
          <p:nvPr>
            <p:ph type="body" idx="1"/>
          </p:nvPr>
        </p:nvSpPr>
        <p:spPr bwMode="auto">
          <a:prstGeom prst="rect">
            <a:avLst/>
          </a:prstGeom>
        </p:spPr>
        <p:txBody>
          <a:bodyPr/>
          <a:lstStyle/>
          <a:p>
            <a:endParaRPr dirty="0"/>
          </a:p>
        </p:txBody>
      </p:sp>
      <p:sp>
        <p:nvSpPr>
          <p:cNvPr id="4" name="Slide Number Placeholder 3">
            <a:extLst>
              <a:ext uri="{FF2B5EF4-FFF2-40B4-BE49-F238E27FC236}">
                <a16:creationId xmlns:a16="http://schemas.microsoft.com/office/drawing/2014/main" id="{E6705B4B-7813-1C85-1288-A80CD78BB7A2}"/>
              </a:ext>
            </a:extLst>
          </p:cNvPr>
          <p:cNvSpPr>
            <a:spLocks noGrp="1"/>
          </p:cNvSpPr>
          <p:nvPr>
            <p:ph type="sldNum" sz="quarter" idx="10"/>
          </p:nvPr>
        </p:nvSpPr>
        <p:spPr bwMode="auto">
          <a:prstGeom prst="rect">
            <a:avLst/>
          </a:prstGeom>
        </p:spPr>
        <p:txBody>
          <a:bodyPr/>
          <a:lstStyle/>
          <a:p>
            <a:endParaRPr/>
          </a:p>
        </p:txBody>
      </p:sp>
    </p:spTree>
    <p:extLst>
      <p:ext uri="{BB962C8B-B14F-4D97-AF65-F5344CB8AC3E}">
        <p14:creationId xmlns:p14="http://schemas.microsoft.com/office/powerpoint/2010/main" val="13643360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6313B-5D22-6127-754D-7C5A7E823A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A3669C-632E-6C29-2BEC-37883B3D93B5}"/>
              </a:ext>
            </a:extLst>
          </p:cNvPr>
          <p:cNvSpPr>
            <a:spLocks noGrp="1" noRot="1" noChangeAspect="1"/>
          </p:cNvSpPr>
          <p:nvPr>
            <p:ph type="sldImg"/>
          </p:nvPr>
        </p:nvSpPr>
        <p:spPr bwMode="auto">
          <a:prstGeom prst="rect">
            <a:avLst/>
          </a:prstGeom>
        </p:spPr>
      </p:sp>
      <p:sp>
        <p:nvSpPr>
          <p:cNvPr id="3" name="Notes Placeholder 2">
            <a:extLst>
              <a:ext uri="{FF2B5EF4-FFF2-40B4-BE49-F238E27FC236}">
                <a16:creationId xmlns:a16="http://schemas.microsoft.com/office/drawing/2014/main" id="{6E3624A5-03B9-4CB0-D6DE-A75E28C6179E}"/>
              </a:ext>
            </a:extLst>
          </p:cNvPr>
          <p:cNvSpPr>
            <a:spLocks noGrp="1"/>
          </p:cNvSpPr>
          <p:nvPr>
            <p:ph type="body" idx="1"/>
          </p:nvPr>
        </p:nvSpPr>
        <p:spPr bwMode="auto">
          <a:prstGeom prst="rect">
            <a:avLst/>
          </a:prstGeom>
        </p:spPr>
        <p:txBody>
          <a:bodyPr/>
          <a:lstStyle/>
          <a:p>
            <a:endParaRPr dirty="0"/>
          </a:p>
        </p:txBody>
      </p:sp>
      <p:sp>
        <p:nvSpPr>
          <p:cNvPr id="4" name="Slide Number Placeholder 3">
            <a:extLst>
              <a:ext uri="{FF2B5EF4-FFF2-40B4-BE49-F238E27FC236}">
                <a16:creationId xmlns:a16="http://schemas.microsoft.com/office/drawing/2014/main" id="{F6B24EAC-9942-4B9B-A117-354B1AC52A87}"/>
              </a:ext>
            </a:extLst>
          </p:cNvPr>
          <p:cNvSpPr>
            <a:spLocks noGrp="1"/>
          </p:cNvSpPr>
          <p:nvPr>
            <p:ph type="sldNum" sz="quarter" idx="10"/>
          </p:nvPr>
        </p:nvSpPr>
        <p:spPr bwMode="auto">
          <a:prstGeom prst="rect">
            <a:avLst/>
          </a:prstGeom>
        </p:spPr>
        <p:txBody>
          <a:bodyPr/>
          <a:lstStyle/>
          <a:p>
            <a:endParaRPr/>
          </a:p>
        </p:txBody>
      </p:sp>
    </p:spTree>
    <p:extLst>
      <p:ext uri="{BB962C8B-B14F-4D97-AF65-F5344CB8AC3E}">
        <p14:creationId xmlns:p14="http://schemas.microsoft.com/office/powerpoint/2010/main" val="41957551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bwMode="auto">
          <a:prstGeom prst="rect">
            <a:avLst/>
          </a:prstGeom>
        </p:spPr>
      </p:sp>
      <p:sp>
        <p:nvSpPr>
          <p:cNvPr id="3" name="Notes Placeholder 2"/>
          <p:cNvSpPr>
            <a:spLocks noGrp="1"/>
          </p:cNvSpPr>
          <p:nvPr>
            <p:ph type="body" idx="1"/>
          </p:nvPr>
        </p:nvSpPr>
        <p:spPr bwMode="auto">
          <a:prstGeom prst="rect">
            <a:avLst/>
          </a:prstGeom>
        </p:spPr>
        <p:txBody>
          <a:bodyPr/>
          <a:lstStyle/>
          <a:p>
            <a:r>
              <a:rPr lang="en-US" altLang="zh-CN" dirty="0"/>
              <a:t>1.</a:t>
            </a:r>
            <a:r>
              <a:rPr lang="zh-CN" altLang="en-US" dirty="0"/>
              <a:t>在</a:t>
            </a:r>
            <a:r>
              <a:rPr lang="en-US" altLang="zh-CN" dirty="0"/>
              <a:t>manifest</a:t>
            </a:r>
            <a:r>
              <a:rPr lang="zh-CN" altLang="en-US" dirty="0"/>
              <a:t>中和要分析的业务逻辑附近插入</a:t>
            </a:r>
            <a:r>
              <a:rPr lang="en-US" altLang="zh-CN" dirty="0"/>
              <a:t>CBRN</a:t>
            </a:r>
            <a:r>
              <a:rPr lang="zh-CN" altLang="en-US" dirty="0"/>
              <a:t>提示词，让</a:t>
            </a:r>
            <a:r>
              <a:rPr lang="en-US" altLang="zh-CN" dirty="0"/>
              <a:t>agent</a:t>
            </a:r>
            <a:r>
              <a:rPr lang="zh-CN" altLang="en-US" dirty="0"/>
              <a:t>进行分析，结果</a:t>
            </a:r>
            <a:r>
              <a:rPr lang="en-US" altLang="zh-CN" dirty="0" err="1"/>
              <a:t>claude</a:t>
            </a:r>
            <a:r>
              <a:rPr lang="zh-CN" altLang="en-US" dirty="0"/>
              <a:t>和</a:t>
            </a:r>
            <a:r>
              <a:rPr lang="en-US" altLang="zh-CN" dirty="0" err="1"/>
              <a:t>chatgpt</a:t>
            </a:r>
            <a:r>
              <a:rPr lang="zh-CN" altLang="en-US" dirty="0"/>
              <a:t>都触发了安全护栏并拒绝进行分析。</a:t>
            </a:r>
            <a:endParaRPr lang="en-US" altLang="zh-CN" dirty="0"/>
          </a:p>
          <a:p>
            <a:r>
              <a:rPr lang="en-US" altLang="zh-CN" dirty="0"/>
              <a:t>2.</a:t>
            </a:r>
            <a:r>
              <a:rPr lang="zh-CN" altLang="en-US" dirty="0"/>
              <a:t>设计与真实业务逻辑相反的逻辑蜜罐，并通过不透明谓词误导</a:t>
            </a:r>
            <a:r>
              <a:rPr lang="en-US" altLang="zh-CN" dirty="0"/>
              <a:t>agent</a:t>
            </a:r>
            <a:r>
              <a:rPr lang="zh-CN" altLang="en-US" dirty="0"/>
              <a:t>，结果</a:t>
            </a:r>
            <a:r>
              <a:rPr lang="en-US" altLang="zh-CN" dirty="0" err="1"/>
              <a:t>deepseek</a:t>
            </a:r>
            <a:r>
              <a:rPr lang="en-US" altLang="zh-CN" dirty="0"/>
              <a:t> v4</a:t>
            </a:r>
            <a:r>
              <a:rPr lang="zh-CN" altLang="en-US" dirty="0"/>
              <a:t>未能成功分析出正确的结果，（如图，正确结论是包含备份笔记）。</a:t>
            </a:r>
            <a:endParaRPr lang="en-US" altLang="zh-CN" dirty="0"/>
          </a:p>
          <a:p>
            <a:r>
              <a:rPr lang="en-US" altLang="zh-CN" dirty="0"/>
              <a:t>3.</a:t>
            </a:r>
            <a:r>
              <a:rPr lang="zh-CN" altLang="en-US" dirty="0"/>
              <a:t>通过对熟悉模式进行细微的扰动（算法整体结构不变，只修改 </a:t>
            </a:r>
            <a:r>
              <a:rPr lang="en-US" altLang="zh-CN" dirty="0"/>
              <a:t>SHA-256 </a:t>
            </a:r>
            <a:r>
              <a:rPr lang="zh-CN" altLang="en-US" dirty="0"/>
              <a:t>的一个轮常量），以准确的算法（</a:t>
            </a:r>
            <a:r>
              <a:rPr lang="en-US" altLang="zh-CN" dirty="0"/>
              <a:t>p</a:t>
            </a:r>
            <a:r>
              <a:rPr lang="zh-CN" altLang="en-US" dirty="0"/>
              <a:t>）结果与使用扰动后的算法（</a:t>
            </a:r>
            <a:r>
              <a:rPr lang="en-US" altLang="zh-CN" dirty="0"/>
              <a:t>p’</a:t>
            </a:r>
            <a:r>
              <a:rPr lang="zh-CN" altLang="en-US" dirty="0"/>
              <a:t>）得到的结果进行谓词判断。结果三个模型得到了错误的结论（正确的是不包含密码）。</a:t>
            </a:r>
            <a:endParaRPr lang="en-US" altLang="zh-CN" dirty="0"/>
          </a:p>
          <a:p>
            <a:r>
              <a:rPr lang="en-US" altLang="zh-CN" dirty="0"/>
              <a:t>4.</a:t>
            </a:r>
            <a:r>
              <a:rPr lang="zh-CN" altLang="en-US" dirty="0"/>
              <a:t>将不透明谓词蜜罐与安全护栏相结合，使用定点审计的方式进行测试，</a:t>
            </a:r>
            <a:r>
              <a:rPr lang="en-US" altLang="zh-CN" dirty="0"/>
              <a:t>Claude</a:t>
            </a:r>
            <a:r>
              <a:rPr lang="zh-CN" altLang="en-US" dirty="0"/>
              <a:t>和</a:t>
            </a:r>
            <a:r>
              <a:rPr lang="en-US" altLang="zh-CN" dirty="0" err="1"/>
              <a:t>gpt</a:t>
            </a:r>
            <a:r>
              <a:rPr lang="zh-CN" altLang="en-US" dirty="0"/>
              <a:t>拒绝分析，</a:t>
            </a:r>
            <a:r>
              <a:rPr lang="en-US" altLang="zh-CN" dirty="0" err="1"/>
              <a:t>deepseek</a:t>
            </a:r>
            <a:r>
              <a:rPr lang="zh-CN" altLang="en-US" dirty="0"/>
              <a:t>分析错误的结果。</a:t>
            </a:r>
            <a:endParaRPr lang="en-US" altLang="zh-CN" dirty="0"/>
          </a:p>
        </p:txBody>
      </p:sp>
      <p:sp>
        <p:nvSpPr>
          <p:cNvPr id="4" name="Slide Number Placeholder 3"/>
          <p:cNvSpPr>
            <a:spLocks noGrp="1"/>
          </p:cNvSpPr>
          <p:nvPr>
            <p:ph type="sldNum" sz="quarter" idx="10"/>
          </p:nvPr>
        </p:nvSpPr>
        <p:spPr bwMode="auto">
          <a:prstGeom prst="rect">
            <a:avLst/>
          </a:prstGeom>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09E48CC-26CB-4E29-92A0-5069670188A2}" type="datetimeFigureOut">
              <a:rPr lang="zh-CN" altLang="en-US" smtClean="0"/>
              <a:t>2026/9/6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7D82E94-C1E4-4CC3-B916-49096D9720AC}"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509E48CC-26CB-4E29-92A0-5069670188A2}" type="datetimeFigureOut">
              <a:rPr lang="zh-CN" altLang="en-US" smtClean="0"/>
              <a:t>2026/9/6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7D82E94-C1E4-4CC3-B916-49096D9720AC}"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09E48CC-26CB-4E29-92A0-5069670188A2}" type="datetimeFigureOut">
              <a:rPr lang="zh-CN" altLang="en-US" smtClean="0"/>
              <a:t>2026/9/6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7D82E94-C1E4-4CC3-B916-49096D9720AC}"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509E48CC-26CB-4E29-92A0-5069670188A2}" type="datetimeFigureOut">
              <a:rPr lang="zh-CN" altLang="en-US" smtClean="0"/>
              <a:t>2026/9/6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7D82E94-C1E4-4CC3-B916-49096D9720AC}"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509E48CC-26CB-4E29-92A0-5069670188A2}" type="datetimeFigureOut">
              <a:rPr lang="zh-CN" altLang="en-US" smtClean="0"/>
              <a:t>2026/9/6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7D82E94-C1E4-4CC3-B916-49096D9720AC}"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09E48CC-26CB-4E29-92A0-5069670188A2}" type="datetimeFigureOut">
              <a:rPr lang="zh-CN" altLang="en-US" smtClean="0"/>
              <a:t>2026/9/6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7D82E94-C1E4-4CC3-B916-49096D9720AC}"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09E48CC-26CB-4E29-92A0-5069670188A2}" type="datetimeFigureOut">
              <a:rPr lang="zh-CN" altLang="en-US" smtClean="0"/>
              <a:t>2026/9/6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7D82E94-C1E4-4CC3-B916-49096D9720AC}"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09E48CC-26CB-4E29-92A0-5069670188A2}" type="datetimeFigureOut">
              <a:rPr lang="zh-CN" altLang="en-US" smtClean="0"/>
              <a:t>2026/9/6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7D82E94-C1E4-4CC3-B916-49096D9720AC}"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09E48CC-26CB-4E29-92A0-5069670188A2}" type="datetimeFigureOut">
              <a:rPr lang="zh-CN" altLang="en-US" smtClean="0"/>
              <a:t>2026/9/6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7D82E94-C1E4-4CC3-B916-49096D9720AC}"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509E48CC-26CB-4E29-92A0-5069670188A2}" type="datetimeFigureOut">
              <a:rPr lang="zh-CN" altLang="en-US" smtClean="0"/>
              <a:t>2026/9/6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7D82E94-C1E4-4CC3-B916-49096D9720AC}"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509E48CC-26CB-4E29-92A0-5069670188A2}" type="datetimeFigureOut">
              <a:rPr lang="zh-CN" altLang="en-US" smtClean="0"/>
              <a:t>2026/9/6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7D82E94-C1E4-4CC3-B916-49096D9720AC}"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4" name="任意多边形 3"/>
          <p:cNvSpPr/>
          <p:nvPr userDrawn="1"/>
        </p:nvSpPr>
        <p:spPr>
          <a:xfrm>
            <a:off x="0" y="35773"/>
            <a:ext cx="1095375" cy="914399"/>
          </a:xfrm>
          <a:custGeom>
            <a:avLst/>
            <a:gdLst>
              <a:gd name="connsiteX0" fmla="*/ 0 w 1095825"/>
              <a:gd name="connsiteY0" fmla="*/ 0 h 914400"/>
              <a:gd name="connsiteX1" fmla="*/ 1095825 w 1095825"/>
              <a:gd name="connsiteY1" fmla="*/ 0 h 914400"/>
              <a:gd name="connsiteX2" fmla="*/ 608144 w 1095825"/>
              <a:gd name="connsiteY2" fmla="*/ 914400 h 914400"/>
              <a:gd name="connsiteX3" fmla="*/ 0 w 1095825"/>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1095825" h="914400">
                <a:moveTo>
                  <a:pt x="0" y="0"/>
                </a:moveTo>
                <a:lnTo>
                  <a:pt x="1095825" y="0"/>
                </a:lnTo>
                <a:lnTo>
                  <a:pt x="608144" y="914400"/>
                </a:lnTo>
                <a:lnTo>
                  <a:pt x="0" y="914400"/>
                </a:lnTo>
                <a:close/>
              </a:path>
            </a:pathLst>
          </a:custGeom>
          <a:solidFill>
            <a:srgbClr val="9C18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 name="矩形 4"/>
          <p:cNvSpPr/>
          <p:nvPr userDrawn="1"/>
        </p:nvSpPr>
        <p:spPr>
          <a:xfrm>
            <a:off x="0" y="0"/>
            <a:ext cx="12192000" cy="71438"/>
          </a:xfrm>
          <a:prstGeom prst="rect">
            <a:avLst/>
          </a:prstGeom>
          <a:solidFill>
            <a:srgbClr val="9C18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矩形 5"/>
          <p:cNvSpPr/>
          <p:nvPr userDrawn="1"/>
        </p:nvSpPr>
        <p:spPr>
          <a:xfrm>
            <a:off x="0" y="6800851"/>
            <a:ext cx="12192000" cy="71437"/>
          </a:xfrm>
          <a:prstGeom prst="rect">
            <a:avLst/>
          </a:prstGeom>
          <a:solidFill>
            <a:srgbClr val="9C18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pic>
        <p:nvPicPr>
          <p:cNvPr id="7" name="图片 9"/>
          <p:cNvPicPr>
            <a:picLocks noChangeAspect="1"/>
          </p:cNvPicPr>
          <p:nvPr userDrawn="1"/>
        </p:nvPicPr>
        <p:blipFill>
          <a:blip r:embed="rId2"/>
          <a:srcRect/>
          <a:stretch>
            <a:fillRect/>
          </a:stretch>
        </p:blipFill>
        <p:spPr bwMode="auto">
          <a:xfrm>
            <a:off x="136525" y="238125"/>
            <a:ext cx="528638" cy="530225"/>
          </a:xfrm>
          <a:prstGeom prst="rect">
            <a:avLst/>
          </a:prstGeom>
          <a:noFill/>
          <a:ln>
            <a:noFill/>
          </a:ln>
        </p:spPr>
      </p:pic>
      <p:cxnSp>
        <p:nvCxnSpPr>
          <p:cNvPr id="3" name="直接连接符 2"/>
          <p:cNvCxnSpPr/>
          <p:nvPr userDrawn="1"/>
        </p:nvCxnSpPr>
        <p:spPr>
          <a:xfrm>
            <a:off x="480060" y="930717"/>
            <a:ext cx="11711940" cy="0"/>
          </a:xfrm>
          <a:prstGeom prst="line">
            <a:avLst/>
          </a:prstGeom>
          <a:ln w="38100">
            <a:solidFill>
              <a:srgbClr val="9C181F"/>
            </a:solidFill>
          </a:ln>
        </p:spPr>
        <p:style>
          <a:lnRef idx="1">
            <a:schemeClr val="accent1"/>
          </a:lnRef>
          <a:fillRef idx="0">
            <a:schemeClr val="accent1"/>
          </a:fillRef>
          <a:effectRef idx="0">
            <a:schemeClr val="accent1"/>
          </a:effectRef>
          <a:fontRef idx="minor">
            <a:schemeClr val="tx1"/>
          </a:fontRef>
        </p:style>
      </p:cxnSp>
      <p:sp>
        <p:nvSpPr>
          <p:cNvPr id="11" name="标题 10"/>
          <p:cNvSpPr>
            <a:spLocks noGrp="1"/>
          </p:cNvSpPr>
          <p:nvPr>
            <p:ph type="title"/>
          </p:nvPr>
        </p:nvSpPr>
        <p:spPr>
          <a:xfrm>
            <a:off x="1231900" y="233805"/>
            <a:ext cx="10515600" cy="613434"/>
          </a:xfrm>
        </p:spPr>
        <p:txBody>
          <a:bodyPr>
            <a:noAutofit/>
          </a:bodyPr>
          <a:lstStyle>
            <a:lvl1pPr>
              <a:defRPr sz="3600" b="1" i="0" baseline="0">
                <a:latin typeface="微软雅黑" panose="020B0503020204020204" pitchFamily="34" charset="-122"/>
                <a:ea typeface="微软雅黑" panose="020B0503020204020204" pitchFamily="34" charset="-122"/>
              </a:defRPr>
            </a:lvl1pPr>
          </a:lstStyle>
          <a:p>
            <a:r>
              <a:rPr kumimoji="1" lang="zh-CN" altLang="en-US" dirty="0"/>
              <a:t>单击此处编辑母版标题样式</a:t>
            </a: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9E48CC-26CB-4E29-92A0-5069670188A2}" type="datetimeFigureOut">
              <a:rPr lang="zh-CN" altLang="en-US" smtClean="0"/>
              <a:t>2026/9/6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D82E94-C1E4-4CC3-B916-49096D9720A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6259286"/>
            <a:ext cx="12192000" cy="598714"/>
          </a:xfrm>
          <a:prstGeom prst="rect">
            <a:avLst/>
          </a:prstGeom>
          <a:solidFill>
            <a:srgbClr val="9C18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9C181F"/>
              </a:solidFill>
              <a:effectLst/>
              <a:uLnTx/>
              <a:uFillTx/>
              <a:latin typeface="微软雅黑" panose="020B0503020204020204" pitchFamily="34" charset="-122"/>
              <a:ea typeface="微软雅黑" panose="020B0503020204020204" pitchFamily="34" charset="-122"/>
              <a:cs typeface="+mn-cs"/>
            </a:endParaRPr>
          </a:p>
        </p:txBody>
      </p:sp>
      <p:sp>
        <p:nvSpPr>
          <p:cNvPr id="12" name="矩形 11"/>
          <p:cNvSpPr/>
          <p:nvPr/>
        </p:nvSpPr>
        <p:spPr bwMode="auto">
          <a:xfrm>
            <a:off x="911317" y="1861469"/>
            <a:ext cx="10935763" cy="615553"/>
          </a:xfrm>
          <a:prstGeom prst="rect">
            <a:avLst/>
          </a:prstGeom>
        </p:spPr>
        <p:txBody>
          <a:bodyPr wrap="square" lIns="0" tIns="0" rIns="0" bIns="0">
            <a:spAutoFit/>
          </a:bodyPr>
          <a:lstStyle/>
          <a:p>
            <a:pPr algn="ctr"/>
            <a:r>
              <a:rPr lang="zh-CN" sz="4000" b="1" spc="300" dirty="0">
                <a:solidFill>
                  <a:srgbClr val="C00000"/>
                </a:solidFill>
                <a:latin typeface="微软雅黑" panose="020B0503020204020204" pitchFamily="34" charset="-122"/>
                <a:ea typeface="微软雅黑" panose="020B0503020204020204" pitchFamily="34" charset="-122"/>
                <a:cs typeface="阿里巴巴普惠体 Medium"/>
              </a:rPr>
              <a:t>面向大模型智能体的逆向对抗技术研究</a:t>
            </a:r>
          </a:p>
        </p:txBody>
      </p:sp>
      <p:sp>
        <p:nvSpPr>
          <p:cNvPr id="13" name="矩形 12"/>
          <p:cNvSpPr/>
          <p:nvPr/>
        </p:nvSpPr>
        <p:spPr bwMode="auto">
          <a:xfrm>
            <a:off x="3803947" y="4489249"/>
            <a:ext cx="4661402" cy="365760"/>
          </a:xfrm>
          <a:prstGeom prst="rect">
            <a:avLst/>
          </a:prstGeom>
        </p:spPr>
        <p:txBody>
          <a:bodyPr wrap="square" lIns="0" tIns="0" rIns="0" bIns="0">
            <a:spAutoFit/>
          </a:bodyPr>
          <a:lstStyle/>
          <a:p>
            <a:pPr algn="r"/>
            <a:endParaRPr lang="zh-CN" sz="2400" b="1">
              <a:effectLst>
                <a:outerShdw blurRad="228600" dist="76200" dir="2700000" algn="tl" rotWithShape="0">
                  <a:prstClr val="black">
                    <a:alpha val="13000"/>
                  </a:prstClr>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Picture 8"/>
          <p:cNvPicPr>
            <a:picLocks noChangeAspect="1"/>
          </p:cNvPicPr>
          <p:nvPr/>
        </p:nvPicPr>
        <p:blipFill>
          <a:blip r:embed="rId3"/>
          <a:stretch>
            <a:fillRect/>
          </a:stretch>
        </p:blipFill>
        <p:spPr>
          <a:xfrm>
            <a:off x="129372" y="1"/>
            <a:ext cx="781945" cy="781945"/>
          </a:xfrm>
          <a:prstGeom prst="rect">
            <a:avLst/>
          </a:prstGeom>
        </p:spPr>
      </p:pic>
      <p:sp>
        <p:nvSpPr>
          <p:cNvPr id="4" name="矩形 3"/>
          <p:cNvSpPr/>
          <p:nvPr/>
        </p:nvSpPr>
        <p:spPr>
          <a:xfrm>
            <a:off x="1088571" y="0"/>
            <a:ext cx="11103429" cy="718458"/>
          </a:xfrm>
          <a:prstGeom prst="rect">
            <a:avLst/>
          </a:prstGeom>
          <a:solidFill>
            <a:srgbClr val="9C18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9C181F"/>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advClick="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a:prstGeom prst="rect">
            <a:avLst/>
          </a:prstGeom>
        </p:spPr>
        <p:txBody>
          <a:bodyPr/>
          <a:lstStyle/>
          <a:p>
            <a:r>
              <a:rPr lang="zh-CN" dirty="0"/>
              <a:t>AI逆向现状与对抗难题</a:t>
            </a:r>
          </a:p>
        </p:txBody>
      </p:sp>
      <p:sp>
        <p:nvSpPr>
          <p:cNvPr id="3" name="内容占位符 2"/>
          <p:cNvSpPr>
            <a:spLocks noGrp="1"/>
          </p:cNvSpPr>
          <p:nvPr/>
        </p:nvSpPr>
        <p:spPr bwMode="auto">
          <a:xfrm>
            <a:off x="193040" y="1263650"/>
            <a:ext cx="6810375" cy="5385435"/>
          </a:xfrm>
          <a:prstGeom prst="rect">
            <a:avLst/>
          </a:prstGeom>
          <a:noFill/>
          <a:ln w="9525">
            <a:noFill/>
            <a:miter lim="800000"/>
          </a:ln>
          <a:effectLst/>
        </p:spPr>
        <p:txBody>
          <a:bodyPr vert="horz" wrap="square" lIns="91440" tIns="45720" rIns="91440" bIns="45720" numCol="1" anchor="t" anchorCtr="0" compatLnSpc="1">
            <a:noAutofit/>
          </a:bodyPr>
          <a:lstStyle>
            <a:lvl1pPr marL="342900" indent="-342900" algn="l" rtl="0">
              <a:spcBef>
                <a:spcPct val="20000"/>
              </a:spcBef>
              <a:spcAft>
                <a:spcPts val="0"/>
              </a:spcAft>
              <a:buClr>
                <a:srgbClr val="003366"/>
              </a:buClr>
              <a:buChar char="•"/>
              <a:defRPr sz="3200">
                <a:solidFill>
                  <a:schemeClr val="tx1"/>
                </a:solidFill>
                <a:latin typeface="Arial" panose="020B0604020202020204"/>
                <a:ea typeface="微软雅黑" panose="020B0503020204020204" pitchFamily="34" charset="-122"/>
                <a:cs typeface="Arial" panose="020B0604020202020204"/>
              </a:defRPr>
            </a:lvl1pPr>
            <a:lvl2pPr marL="742950" indent="-285750" algn="l" rtl="0">
              <a:spcBef>
                <a:spcPct val="20000"/>
              </a:spcBef>
              <a:spcAft>
                <a:spcPts val="0"/>
              </a:spcAft>
              <a:buClr>
                <a:srgbClr val="003366"/>
              </a:buClr>
              <a:buChar char="–"/>
              <a:defRPr sz="2800">
                <a:solidFill>
                  <a:schemeClr val="tx1"/>
                </a:solidFill>
                <a:latin typeface="Arial" panose="020B0604020202020204"/>
                <a:ea typeface="微软雅黑" panose="020B0503020204020204" pitchFamily="34" charset="-122"/>
                <a:cs typeface="Arial" panose="020B0604020202020204"/>
              </a:defRPr>
            </a:lvl2pPr>
            <a:lvl3pPr marL="1143000" indent="-228600" algn="l" rtl="0">
              <a:spcBef>
                <a:spcPct val="20000"/>
              </a:spcBef>
              <a:spcAft>
                <a:spcPts val="0"/>
              </a:spcAft>
              <a:buClr>
                <a:srgbClr val="003366"/>
              </a:buClr>
              <a:buChar char="•"/>
              <a:defRPr sz="2400">
                <a:solidFill>
                  <a:schemeClr val="tx1"/>
                </a:solidFill>
                <a:latin typeface="Arial" panose="020B0604020202020204"/>
                <a:ea typeface="微软雅黑" panose="020B0503020204020204" pitchFamily="34" charset="-122"/>
                <a:cs typeface="Arial" panose="020B0604020202020204"/>
              </a:defRPr>
            </a:lvl3pPr>
            <a:lvl4pPr marL="1600200" indent="-228600" algn="l" rtl="0">
              <a:spcBef>
                <a:spcPct val="20000"/>
              </a:spcBef>
              <a:spcAft>
                <a:spcPts val="0"/>
              </a:spcAft>
              <a:buClr>
                <a:srgbClr val="003366"/>
              </a:buClr>
              <a:buChar char="–"/>
              <a:defRPr sz="2000">
                <a:solidFill>
                  <a:schemeClr val="tx1"/>
                </a:solidFill>
                <a:latin typeface="Arial" panose="020B0604020202020204"/>
                <a:ea typeface="微软雅黑" panose="020B0503020204020204" pitchFamily="34" charset="-122"/>
                <a:cs typeface="Arial" panose="020B0604020202020204"/>
              </a:defRPr>
            </a:lvl4pPr>
            <a:lvl5pPr marL="2057400" indent="-228600" algn="l" rtl="0">
              <a:spcBef>
                <a:spcPct val="20000"/>
              </a:spcBef>
              <a:spcAft>
                <a:spcPts val="0"/>
              </a:spcAft>
              <a:buClr>
                <a:srgbClr val="003366"/>
              </a:buClr>
              <a:buChar char="»"/>
              <a:defRPr sz="2000">
                <a:solidFill>
                  <a:schemeClr val="tx1"/>
                </a:solidFill>
                <a:latin typeface="Arial" panose="020B0604020202020204"/>
                <a:ea typeface="微软雅黑" panose="020B0503020204020204" pitchFamily="34" charset="-122"/>
                <a:cs typeface="Arial" panose="020B0604020202020204"/>
              </a:defRPr>
            </a:lvl5pPr>
            <a:lvl6pPr marL="2514600" indent="-228600" algn="l" rtl="0">
              <a:spcBef>
                <a:spcPct val="20000"/>
              </a:spcBef>
              <a:spcAft>
                <a:spcPts val="0"/>
              </a:spcAft>
              <a:buClr>
                <a:srgbClr val="003366"/>
              </a:buClr>
              <a:buChar char="»"/>
              <a:defRPr sz="2000">
                <a:solidFill>
                  <a:schemeClr val="tx1"/>
                </a:solidFill>
                <a:latin typeface="+mn-lt"/>
                <a:ea typeface="+mn-ea"/>
                <a:cs typeface="+mn-cs"/>
              </a:defRPr>
            </a:lvl6pPr>
            <a:lvl7pPr marL="2971800" indent="-228600" algn="l" rtl="0">
              <a:spcBef>
                <a:spcPct val="20000"/>
              </a:spcBef>
              <a:spcAft>
                <a:spcPts val="0"/>
              </a:spcAft>
              <a:buClr>
                <a:srgbClr val="003366"/>
              </a:buClr>
              <a:buChar char="»"/>
              <a:defRPr sz="2000">
                <a:solidFill>
                  <a:schemeClr val="tx1"/>
                </a:solidFill>
                <a:latin typeface="+mn-lt"/>
                <a:ea typeface="+mn-ea"/>
                <a:cs typeface="+mn-cs"/>
              </a:defRPr>
            </a:lvl7pPr>
            <a:lvl8pPr marL="3429000" indent="-228600" algn="l" rtl="0">
              <a:spcBef>
                <a:spcPct val="20000"/>
              </a:spcBef>
              <a:spcAft>
                <a:spcPts val="0"/>
              </a:spcAft>
              <a:buClr>
                <a:srgbClr val="003366"/>
              </a:buClr>
              <a:buChar char="»"/>
              <a:defRPr sz="2000">
                <a:solidFill>
                  <a:schemeClr val="tx1"/>
                </a:solidFill>
                <a:latin typeface="+mn-lt"/>
                <a:ea typeface="+mn-ea"/>
                <a:cs typeface="+mn-cs"/>
              </a:defRPr>
            </a:lvl8pPr>
            <a:lvl9pPr marL="3886200" indent="-228600" algn="l" rtl="0">
              <a:spcBef>
                <a:spcPct val="20000"/>
              </a:spcBef>
              <a:spcAft>
                <a:spcPts val="0"/>
              </a:spcAft>
              <a:buClr>
                <a:srgbClr val="003366"/>
              </a:buClr>
              <a:buChar char="»"/>
              <a:defRPr sz="2000">
                <a:solidFill>
                  <a:schemeClr val="tx1"/>
                </a:solidFill>
                <a:latin typeface="+mn-lt"/>
                <a:ea typeface="+mn-ea"/>
                <a:cs typeface="+mn-cs"/>
              </a:defRPr>
            </a:lvl9pPr>
          </a:lstStyle>
          <a:p>
            <a:pPr algn="just">
              <a:buClr>
                <a:srgbClr val="9C181E"/>
              </a:buClr>
              <a:buFont typeface="Wingdings"/>
              <a:buChar char="n"/>
            </a:pPr>
            <a:r>
              <a:rPr lang="zh-CN" sz="2400" b="1" dirty="0"/>
              <a:t>以Codex、Claude Code为代表的大模型智能体具有极强的逆向能力</a:t>
            </a:r>
            <a:endParaRPr lang="en-US" sz="2000" b="1" dirty="0"/>
          </a:p>
          <a:p>
            <a:pPr lvl="1" algn="just">
              <a:buClr>
                <a:srgbClr val="9C181E"/>
              </a:buClr>
              <a:buFont typeface="Wingdings"/>
              <a:buChar char="n"/>
            </a:pPr>
            <a:r>
              <a:rPr lang="zh-CN" altLang="en-US" sz="1800" b="1" dirty="0"/>
              <a:t>静态代码解释：阅读</a:t>
            </a:r>
            <a:r>
              <a:rPr lang="en-US" altLang="zh-CN" sz="1800" b="1" dirty="0"/>
              <a:t>Java</a:t>
            </a:r>
            <a:r>
              <a:rPr lang="zh-CN" altLang="en-US" sz="1800" b="1" dirty="0"/>
              <a:t>反编译代码，</a:t>
            </a:r>
            <a:r>
              <a:rPr lang="en-US" altLang="zh-CN" sz="1800" b="1" dirty="0"/>
              <a:t>native</a:t>
            </a:r>
            <a:r>
              <a:rPr lang="zh-CN" altLang="en-US" sz="1800" b="1" dirty="0"/>
              <a:t>伪代码，迅速推测函数职责与变量含义</a:t>
            </a:r>
          </a:p>
          <a:p>
            <a:pPr lvl="1" algn="just">
              <a:buClr>
                <a:srgbClr val="9C181E"/>
              </a:buClr>
              <a:buFont typeface="Wingdings"/>
              <a:buChar char="n"/>
            </a:pPr>
            <a:r>
              <a:rPr lang="zh-CN" altLang="en-US" sz="1800" b="1" dirty="0"/>
              <a:t>模式识别：识别常见的算法，混淆形态与代码结构</a:t>
            </a:r>
          </a:p>
          <a:p>
            <a:pPr lvl="1" algn="just">
              <a:buClr>
                <a:srgbClr val="9C181E"/>
              </a:buClr>
              <a:buFont typeface="Wingdings"/>
              <a:buChar char="n"/>
            </a:pPr>
            <a:r>
              <a:rPr lang="zh-CN" altLang="en-US" sz="1800" b="1" dirty="0"/>
              <a:t>脚本生成：根据目标生成</a:t>
            </a:r>
            <a:r>
              <a:rPr lang="en-US" altLang="zh-CN" sz="1800" b="1" dirty="0"/>
              <a:t>Frida</a:t>
            </a:r>
            <a:r>
              <a:rPr lang="zh-CN" altLang="en-US" sz="1800" b="1" dirty="0"/>
              <a:t>，</a:t>
            </a:r>
            <a:r>
              <a:rPr lang="en-US" altLang="zh-CN" sz="1800" b="1" dirty="0"/>
              <a:t>IDA python</a:t>
            </a:r>
            <a:r>
              <a:rPr lang="zh-CN" altLang="en-US" sz="1800" b="1" dirty="0"/>
              <a:t>，</a:t>
            </a:r>
            <a:r>
              <a:rPr lang="en-US" altLang="zh-CN" sz="1800" b="1" dirty="0" err="1"/>
              <a:t>unidbg</a:t>
            </a:r>
            <a:r>
              <a:rPr lang="zh-CN" altLang="en-US" sz="1800" b="1" dirty="0"/>
              <a:t>脚本进行动态调试。</a:t>
            </a:r>
          </a:p>
          <a:p>
            <a:pPr lvl="1" algn="just">
              <a:buClr>
                <a:srgbClr val="9C181E"/>
              </a:buClr>
              <a:buFont typeface="Wingdings"/>
              <a:buChar char="n"/>
            </a:pPr>
            <a:r>
              <a:rPr lang="en-US" altLang="zh-CN" sz="1800" b="1" dirty="0"/>
              <a:t>trace</a:t>
            </a:r>
            <a:r>
              <a:rPr lang="zh-CN" altLang="en-US" sz="1800" b="1" dirty="0"/>
              <a:t>辅助分析：</a:t>
            </a:r>
            <a:r>
              <a:rPr lang="en-US" altLang="zh-CN" sz="1800" b="1" dirty="0"/>
              <a:t>trace VMP handler</a:t>
            </a:r>
            <a:r>
              <a:rPr lang="zh-CN" altLang="en-US" sz="1800" b="1" dirty="0"/>
              <a:t>之后</a:t>
            </a:r>
            <a:r>
              <a:rPr lang="en-US" altLang="zh-CN" sz="1800" b="1" dirty="0"/>
              <a:t>agent</a:t>
            </a:r>
            <a:r>
              <a:rPr lang="zh-CN" altLang="en-US" sz="1800" b="1" dirty="0"/>
              <a:t>能帮助归纳</a:t>
            </a:r>
            <a:r>
              <a:rPr lang="en-US" altLang="zh-CN" sz="1800" b="1" dirty="0"/>
              <a:t>opcode</a:t>
            </a:r>
            <a:r>
              <a:rPr lang="zh-CN" altLang="en-US" sz="1800" b="1" dirty="0"/>
              <a:t>行为与虚拟状态变化</a:t>
            </a:r>
          </a:p>
          <a:p>
            <a:pPr algn="just">
              <a:buClr>
                <a:srgbClr val="9C181E"/>
              </a:buClr>
              <a:buFont typeface="Wingdings"/>
              <a:buChar char="n"/>
            </a:pPr>
            <a:r>
              <a:rPr lang="en-US" sz="2400" b="1" dirty="0" err="1"/>
              <a:t>攻击者借助Codex</a:t>
            </a:r>
            <a:r>
              <a:rPr lang="zh-CN" altLang="en-US" sz="2400" b="1" dirty="0"/>
              <a:t>等智能体可以</a:t>
            </a:r>
            <a:r>
              <a:rPr lang="en-US" sz="2400" b="1" dirty="0" err="1"/>
              <a:t>在较短时间内对移动APP终端代码进行逆向，导致APP业务逻辑信息暴露，造成攻击和黑灰产利用，侵犯知识产权</a:t>
            </a:r>
            <a:endParaRPr lang="en-US" sz="2400" b="1" dirty="0"/>
          </a:p>
          <a:p>
            <a:pPr lvl="1" algn="just">
              <a:buClr>
                <a:srgbClr val="9C181E"/>
              </a:buClr>
              <a:buFont typeface="Wingdings"/>
              <a:buChar char="n"/>
            </a:pPr>
            <a:r>
              <a:rPr lang="zh-CN" altLang="en-US" sz="1800" b="1" dirty="0"/>
              <a:t>传统移动端加固主要面向人工逆向和工具逆向，逆向智能体具备很强的逆向能力，使得传统的混淆、固定模式加固和反调试的防护价值下降</a:t>
            </a:r>
          </a:p>
          <a:p>
            <a:pPr lvl="1" algn="just">
              <a:buClr>
                <a:srgbClr val="9C181E"/>
              </a:buClr>
              <a:buFont typeface="Wingdings"/>
              <a:buChar char="n"/>
            </a:pPr>
            <a:endParaRPr lang="zh-CN" altLang="en-US" sz="1800" b="1" dirty="0"/>
          </a:p>
        </p:txBody>
      </p:sp>
      <p:pic>
        <p:nvPicPr>
          <p:cNvPr id="6" name="图片 5"/>
          <p:cNvPicPr/>
          <p:nvPr/>
        </p:nvPicPr>
        <p:blipFill>
          <a:blip r:embed="rId3"/>
          <a:stretch>
            <a:fillRect/>
          </a:stretch>
        </p:blipFill>
        <p:spPr>
          <a:xfrm>
            <a:off x="9873615" y="4219892"/>
            <a:ext cx="2125345" cy="2075180"/>
          </a:xfrm>
          <a:prstGeom prst="rect">
            <a:avLst/>
          </a:prstGeom>
        </p:spPr>
      </p:pic>
      <p:sp>
        <p:nvSpPr>
          <p:cNvPr id="7" name="文本框 6"/>
          <p:cNvSpPr/>
          <p:nvPr/>
        </p:nvSpPr>
        <p:spPr>
          <a:xfrm>
            <a:off x="8723522" y="6307737"/>
            <a:ext cx="1814830" cy="368300"/>
          </a:xfrm>
          <a:prstGeom prst="rect">
            <a:avLst/>
          </a:prstGeom>
          <a:noFill/>
        </p:spPr>
        <p:txBody>
          <a:bodyPr wrap="square" rtlCol="0">
            <a:spAutoFit/>
          </a:bodyPr>
          <a:lstStyle/>
          <a:p>
            <a:r>
              <a:rPr lang="en-US" altLang="zh-CN" dirty="0"/>
              <a:t>AI</a:t>
            </a:r>
            <a:r>
              <a:rPr lang="zh-CN" altLang="en-US" dirty="0"/>
              <a:t>逆向已成趋势</a:t>
            </a:r>
          </a:p>
        </p:txBody>
      </p:sp>
      <p:pic>
        <p:nvPicPr>
          <p:cNvPr id="8" name="图片 7"/>
          <p:cNvPicPr>
            <a:picLocks noChangeAspect="1"/>
          </p:cNvPicPr>
          <p:nvPr/>
        </p:nvPicPr>
        <p:blipFill>
          <a:blip r:embed="rId4"/>
          <a:stretch>
            <a:fillRect/>
          </a:stretch>
        </p:blipFill>
        <p:spPr>
          <a:xfrm>
            <a:off x="7003415" y="4645660"/>
            <a:ext cx="2675255" cy="1223645"/>
          </a:xfrm>
          <a:prstGeom prst="rect">
            <a:avLst/>
          </a:prstGeom>
        </p:spPr>
      </p:pic>
      <p:pic>
        <p:nvPicPr>
          <p:cNvPr id="10" name="图片 9">
            <a:extLst>
              <a:ext uri="{FF2B5EF4-FFF2-40B4-BE49-F238E27FC236}">
                <a16:creationId xmlns:a16="http://schemas.microsoft.com/office/drawing/2014/main" id="{DADBB3AA-19BB-70AE-045A-00528FE6A97E}"/>
              </a:ext>
            </a:extLst>
          </p:cNvPr>
          <p:cNvPicPr>
            <a:picLocks/>
          </p:cNvPicPr>
          <p:nvPr/>
        </p:nvPicPr>
        <p:blipFill>
          <a:blip r:embed="rId5"/>
          <a:srcRect t="12151"/>
          <a:stretch>
            <a:fillRect/>
          </a:stretch>
        </p:blipFill>
        <p:spPr>
          <a:xfrm>
            <a:off x="7100711" y="1151467"/>
            <a:ext cx="4898249" cy="2958429"/>
          </a:xfrm>
          <a:prstGeom prst="rect">
            <a:avLst/>
          </a:prstGeom>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bwMode="auto">
          <a:xfrm>
            <a:off x="1231900" y="233804"/>
            <a:ext cx="10515600" cy="613434"/>
          </a:xfrm>
          <a:prstGeom prst="rect">
            <a:avLst/>
          </a:prstGeom>
        </p:spPr>
        <p:txBody>
          <a:bodyPr/>
          <a:lstStyle/>
          <a:p>
            <a:pPr marL="0" marR="0" indent="0" algn="l" defTabSz="914400" rtl="0">
              <a:lnSpc>
                <a:spcPct val="90000"/>
              </a:lnSpc>
              <a:spcBef>
                <a:spcPts val="0"/>
              </a:spcBef>
              <a:spcAft>
                <a:spcPts val="0"/>
              </a:spcAft>
              <a:buNone/>
              <a:defRPr lang="en-US" sz="3600" b="1" i="0" u="none" strike="noStrike" cap="none" spc="0">
                <a:solidFill>
                  <a:srgbClr val="000000"/>
                </a:solidFill>
                <a:latin typeface="微软雅黑" panose="020B0503020204020204" pitchFamily="34" charset="-122"/>
                <a:ea typeface="微软雅黑" panose="020B0503020204020204" pitchFamily="34" charset="-122"/>
              </a:defRPr>
            </a:pPr>
            <a:r>
              <a:rPr lang="zh-CN" dirty="0"/>
              <a:t>如何对抗</a:t>
            </a:r>
            <a:r>
              <a:rPr lang="en-US" altLang="zh-CN" dirty="0"/>
              <a:t>agent</a:t>
            </a:r>
            <a:r>
              <a:rPr lang="zh-CN" dirty="0"/>
              <a:t>，防止APP代码被逆向？</a:t>
            </a:r>
          </a:p>
        </p:txBody>
      </p:sp>
      <p:sp>
        <p:nvSpPr>
          <p:cNvPr id="3" name="内容占位符 2"/>
          <p:cNvSpPr>
            <a:spLocks noGrp="1"/>
          </p:cNvSpPr>
          <p:nvPr/>
        </p:nvSpPr>
        <p:spPr bwMode="auto">
          <a:xfrm>
            <a:off x="193040" y="1263650"/>
            <a:ext cx="11758295" cy="5412105"/>
          </a:xfrm>
          <a:prstGeom prst="rect">
            <a:avLst/>
          </a:prstGeom>
          <a:noFill/>
          <a:ln w="9525">
            <a:noFill/>
            <a:miter lim="800000"/>
          </a:ln>
          <a:effectLst/>
        </p:spPr>
        <p:txBody>
          <a:bodyPr vert="horz" wrap="square" lIns="91440" tIns="45720" rIns="91440" bIns="45720" numCol="1" anchor="t" anchorCtr="0" compatLnSpc="1">
            <a:noAutofit/>
          </a:bodyPr>
          <a:lstStyle>
            <a:lvl1pPr marL="342900" indent="-342900" algn="l" rtl="0">
              <a:spcBef>
                <a:spcPct val="20000"/>
              </a:spcBef>
              <a:spcAft>
                <a:spcPts val="0"/>
              </a:spcAft>
              <a:buClr>
                <a:srgbClr val="003366"/>
              </a:buClr>
              <a:buChar char="•"/>
              <a:defRPr sz="3200">
                <a:solidFill>
                  <a:schemeClr val="tx1"/>
                </a:solidFill>
                <a:latin typeface="Arial" panose="020B0604020202020204"/>
                <a:ea typeface="微软雅黑" panose="020B0503020204020204" pitchFamily="34" charset="-122"/>
                <a:cs typeface="Arial" panose="020B0604020202020204"/>
              </a:defRPr>
            </a:lvl1pPr>
            <a:lvl2pPr marL="742950" indent="-285750" algn="l" rtl="0">
              <a:spcBef>
                <a:spcPct val="20000"/>
              </a:spcBef>
              <a:spcAft>
                <a:spcPts val="0"/>
              </a:spcAft>
              <a:buClr>
                <a:srgbClr val="003366"/>
              </a:buClr>
              <a:buChar char="–"/>
              <a:defRPr sz="2800">
                <a:solidFill>
                  <a:schemeClr val="tx1"/>
                </a:solidFill>
                <a:latin typeface="Arial" panose="020B0604020202020204"/>
                <a:ea typeface="微软雅黑" panose="020B0503020204020204" pitchFamily="34" charset="-122"/>
                <a:cs typeface="Arial" panose="020B0604020202020204"/>
              </a:defRPr>
            </a:lvl2pPr>
            <a:lvl3pPr marL="1143000" indent="-228600" algn="l" rtl="0">
              <a:spcBef>
                <a:spcPct val="20000"/>
              </a:spcBef>
              <a:spcAft>
                <a:spcPts val="0"/>
              </a:spcAft>
              <a:buClr>
                <a:srgbClr val="003366"/>
              </a:buClr>
              <a:buChar char="•"/>
              <a:defRPr sz="2400">
                <a:solidFill>
                  <a:schemeClr val="tx1"/>
                </a:solidFill>
                <a:latin typeface="Arial" panose="020B0604020202020204"/>
                <a:ea typeface="微软雅黑" panose="020B0503020204020204" pitchFamily="34" charset="-122"/>
                <a:cs typeface="Arial" panose="020B0604020202020204"/>
              </a:defRPr>
            </a:lvl3pPr>
            <a:lvl4pPr marL="1600200" indent="-228600" algn="l" rtl="0">
              <a:spcBef>
                <a:spcPct val="20000"/>
              </a:spcBef>
              <a:spcAft>
                <a:spcPts val="0"/>
              </a:spcAft>
              <a:buClr>
                <a:srgbClr val="003366"/>
              </a:buClr>
              <a:buChar char="–"/>
              <a:defRPr sz="2000">
                <a:solidFill>
                  <a:schemeClr val="tx1"/>
                </a:solidFill>
                <a:latin typeface="Arial" panose="020B0604020202020204"/>
                <a:ea typeface="微软雅黑" panose="020B0503020204020204" pitchFamily="34" charset="-122"/>
                <a:cs typeface="Arial" panose="020B0604020202020204"/>
              </a:defRPr>
            </a:lvl4pPr>
            <a:lvl5pPr marL="2057400" indent="-228600" algn="l" rtl="0">
              <a:spcBef>
                <a:spcPct val="20000"/>
              </a:spcBef>
              <a:spcAft>
                <a:spcPts val="0"/>
              </a:spcAft>
              <a:buClr>
                <a:srgbClr val="003366"/>
              </a:buClr>
              <a:buChar char="»"/>
              <a:defRPr sz="2000">
                <a:solidFill>
                  <a:schemeClr val="tx1"/>
                </a:solidFill>
                <a:latin typeface="Arial" panose="020B0604020202020204"/>
                <a:ea typeface="微软雅黑" panose="020B0503020204020204" pitchFamily="34" charset="-122"/>
                <a:cs typeface="Arial" panose="020B0604020202020204"/>
              </a:defRPr>
            </a:lvl5pPr>
            <a:lvl6pPr marL="2514600" indent="-228600" algn="l" rtl="0">
              <a:spcBef>
                <a:spcPct val="20000"/>
              </a:spcBef>
              <a:spcAft>
                <a:spcPts val="0"/>
              </a:spcAft>
              <a:buClr>
                <a:srgbClr val="003366"/>
              </a:buClr>
              <a:buChar char="»"/>
              <a:defRPr sz="2000">
                <a:solidFill>
                  <a:schemeClr val="tx1"/>
                </a:solidFill>
                <a:latin typeface="+mn-lt"/>
                <a:ea typeface="+mn-ea"/>
                <a:cs typeface="+mn-cs"/>
              </a:defRPr>
            </a:lvl6pPr>
            <a:lvl7pPr marL="2971800" indent="-228600" algn="l" rtl="0">
              <a:spcBef>
                <a:spcPct val="20000"/>
              </a:spcBef>
              <a:spcAft>
                <a:spcPts val="0"/>
              </a:spcAft>
              <a:buClr>
                <a:srgbClr val="003366"/>
              </a:buClr>
              <a:buChar char="»"/>
              <a:defRPr sz="2000">
                <a:solidFill>
                  <a:schemeClr val="tx1"/>
                </a:solidFill>
                <a:latin typeface="+mn-lt"/>
                <a:ea typeface="+mn-ea"/>
                <a:cs typeface="+mn-cs"/>
              </a:defRPr>
            </a:lvl7pPr>
            <a:lvl8pPr marL="3429000" indent="-228600" algn="l" rtl="0">
              <a:spcBef>
                <a:spcPct val="20000"/>
              </a:spcBef>
              <a:spcAft>
                <a:spcPts val="0"/>
              </a:spcAft>
              <a:buClr>
                <a:srgbClr val="003366"/>
              </a:buClr>
              <a:buChar char="»"/>
              <a:defRPr sz="2000">
                <a:solidFill>
                  <a:schemeClr val="tx1"/>
                </a:solidFill>
                <a:latin typeface="+mn-lt"/>
                <a:ea typeface="+mn-ea"/>
                <a:cs typeface="+mn-cs"/>
              </a:defRPr>
            </a:lvl8pPr>
            <a:lvl9pPr marL="3886200" indent="-228600" algn="l" rtl="0">
              <a:spcBef>
                <a:spcPct val="20000"/>
              </a:spcBef>
              <a:spcAft>
                <a:spcPts val="0"/>
              </a:spcAft>
              <a:buClr>
                <a:srgbClr val="003366"/>
              </a:buClr>
              <a:buChar char="»"/>
              <a:defRPr sz="2000">
                <a:solidFill>
                  <a:schemeClr val="tx1"/>
                </a:solidFill>
                <a:latin typeface="+mn-lt"/>
                <a:ea typeface="+mn-ea"/>
                <a:cs typeface="+mn-cs"/>
              </a:defRPr>
            </a:lvl9pPr>
          </a:lstStyle>
          <a:p>
            <a:pPr marL="342900" marR="0" indent="-342900" algn="just" defTabSz="914400" rtl="0">
              <a:lnSpc>
                <a:spcPct val="100000"/>
              </a:lnSpc>
              <a:spcBef>
                <a:spcPts val="0"/>
              </a:spcBef>
              <a:spcAft>
                <a:spcPts val="0"/>
              </a:spcAft>
              <a:buClr>
                <a:srgbClr val="9C181E"/>
              </a:buClr>
              <a:buFont typeface="Wingdings" panose="05000000000000000000"/>
              <a:buChar char="n"/>
              <a:defRPr lang="en-US" sz="3200" b="0" i="0" u="none" strike="noStrike" cap="none" spc="0">
                <a:solidFill>
                  <a:srgbClr val="000000"/>
                </a:solidFill>
                <a:latin typeface="Arial" panose="020B0604020202020204"/>
                <a:ea typeface="微软雅黑" panose="020B0503020204020204" pitchFamily="34" charset="-122"/>
                <a:cs typeface="Arial" panose="020B0604020202020204"/>
              </a:defRPr>
            </a:pPr>
            <a:r>
              <a:rPr lang="zh-CN" altLang="en-US" sz="2600" b="1" dirty="0"/>
              <a:t>逆向</a:t>
            </a:r>
            <a:r>
              <a:rPr altLang="zh-CN" sz="2600" b="1" dirty="0"/>
              <a:t>agent</a:t>
            </a:r>
            <a:r>
              <a:rPr lang="zh-CN" altLang="en-US" sz="2600" b="1" dirty="0"/>
              <a:t>可以看作一个经验丰富、不会疲劳、能够不断试错的逆向分析人员，它可以反复阅读代码、生成脚本、调用工具、总结日志，并根据失败结果调整下一步策略。</a:t>
            </a:r>
            <a:r>
              <a:rPr altLang="zh-CN" sz="2600" b="1" dirty="0"/>
              <a:t>agent</a:t>
            </a:r>
            <a:r>
              <a:rPr lang="zh-CN" altLang="en-US" sz="2600" b="1" dirty="0"/>
              <a:t>的功能有以下几个依赖：</a:t>
            </a:r>
          </a:p>
          <a:p>
            <a:pPr marL="800100" marR="0" lvl="1" indent="-342900" algn="just" defTabSz="914400" rtl="0">
              <a:lnSpc>
                <a:spcPct val="100000"/>
              </a:lnSpc>
              <a:spcBef>
                <a:spcPts val="0"/>
              </a:spcBef>
              <a:spcAft>
                <a:spcPts val="0"/>
              </a:spcAft>
              <a:buClr>
                <a:srgbClr val="9C181E"/>
              </a:buClr>
              <a:buFont typeface="Wingdings" panose="05000000000000000000"/>
              <a:buChar char="n"/>
              <a:defRPr lang="en-US" sz="3200" b="0" i="0" u="none" strike="noStrike" cap="none" spc="0">
                <a:solidFill>
                  <a:srgbClr val="000000"/>
                </a:solidFill>
                <a:latin typeface="Arial" panose="020B0604020202020204"/>
                <a:ea typeface="微软雅黑" panose="020B0503020204020204" pitchFamily="34" charset="-122"/>
                <a:cs typeface="Arial" panose="020B0604020202020204"/>
              </a:defRPr>
            </a:pPr>
            <a:r>
              <a:rPr lang="zh-CN" altLang="en-US" sz="2275" b="1" dirty="0"/>
              <a:t>依赖静态样本中的字符串、函数名、调用关系等线索</a:t>
            </a:r>
          </a:p>
          <a:p>
            <a:pPr marL="800100" marR="0" lvl="1" indent="-342900" algn="just" defTabSz="914400" rtl="0">
              <a:lnSpc>
                <a:spcPct val="100000"/>
              </a:lnSpc>
              <a:spcBef>
                <a:spcPts val="0"/>
              </a:spcBef>
              <a:spcAft>
                <a:spcPts val="0"/>
              </a:spcAft>
              <a:buClr>
                <a:srgbClr val="9C181E"/>
              </a:buClr>
              <a:buFont typeface="Wingdings" panose="05000000000000000000"/>
              <a:buChar char="n"/>
              <a:defRPr lang="en-US" sz="3200" b="0" i="0" u="none" strike="noStrike" cap="none" spc="0">
                <a:solidFill>
                  <a:srgbClr val="000000"/>
                </a:solidFill>
                <a:latin typeface="Arial" panose="020B0604020202020204"/>
                <a:ea typeface="微软雅黑" panose="020B0503020204020204" pitchFamily="34" charset="-122"/>
                <a:cs typeface="Arial" panose="020B0604020202020204"/>
              </a:defRPr>
            </a:pPr>
            <a:r>
              <a:rPr lang="zh-CN" altLang="en-US" sz="2275" b="1" dirty="0"/>
              <a:t>依赖工具输出的反编译结果、</a:t>
            </a:r>
            <a:r>
              <a:rPr lang="en-US" altLang="zh-CN" sz="2275" b="1" dirty="0"/>
              <a:t>trace </a:t>
            </a:r>
            <a:r>
              <a:rPr lang="zh-CN" altLang="en-US" sz="2275" b="1" dirty="0"/>
              <a:t>结果和</a:t>
            </a:r>
            <a:r>
              <a:rPr lang="en-US" altLang="zh-CN" sz="2275" b="1" dirty="0"/>
              <a:t>hook </a:t>
            </a:r>
            <a:r>
              <a:rPr lang="zh-CN" altLang="en-US" sz="2275" b="1" dirty="0"/>
              <a:t>结果</a:t>
            </a:r>
          </a:p>
          <a:p>
            <a:pPr marL="800100" marR="0" lvl="1" indent="-342900" algn="just" defTabSz="914400" rtl="0">
              <a:lnSpc>
                <a:spcPct val="100000"/>
              </a:lnSpc>
              <a:spcBef>
                <a:spcPts val="0"/>
              </a:spcBef>
              <a:spcAft>
                <a:spcPts val="0"/>
              </a:spcAft>
              <a:buClr>
                <a:srgbClr val="9C181E"/>
              </a:buClr>
              <a:buFont typeface="Wingdings" panose="05000000000000000000"/>
              <a:buChar char="n"/>
              <a:defRPr lang="en-US" sz="3200" b="0" i="0" u="none" strike="noStrike" cap="none" spc="0">
                <a:solidFill>
                  <a:srgbClr val="000000"/>
                </a:solidFill>
                <a:latin typeface="Arial" panose="020B0604020202020204"/>
                <a:ea typeface="微软雅黑" panose="020B0503020204020204" pitchFamily="34" charset="-122"/>
                <a:cs typeface="Arial" panose="020B0604020202020204"/>
              </a:defRPr>
            </a:pPr>
            <a:r>
              <a:rPr lang="zh-CN" altLang="en-US" sz="2275" b="1" dirty="0"/>
              <a:t>依赖上下文窗口中的证据组织和推理链路</a:t>
            </a:r>
          </a:p>
          <a:p>
            <a:pPr marL="800100" marR="0" lvl="1" indent="-342900" algn="just" defTabSz="914400" rtl="0">
              <a:lnSpc>
                <a:spcPct val="100000"/>
              </a:lnSpc>
              <a:spcBef>
                <a:spcPts val="0"/>
              </a:spcBef>
              <a:spcAft>
                <a:spcPts val="0"/>
              </a:spcAft>
              <a:buClr>
                <a:srgbClr val="9C181E"/>
              </a:buClr>
              <a:buFont typeface="Wingdings" panose="05000000000000000000"/>
              <a:buChar char="n"/>
              <a:defRPr lang="en-US" sz="3200" b="0" i="0" u="none" strike="noStrike" cap="none" spc="0">
                <a:solidFill>
                  <a:srgbClr val="000000"/>
                </a:solidFill>
                <a:latin typeface="Arial" panose="020B0604020202020204"/>
                <a:ea typeface="微软雅黑" panose="020B0503020204020204" pitchFamily="34" charset="-122"/>
                <a:cs typeface="Arial" panose="020B0604020202020204"/>
              </a:defRPr>
            </a:pPr>
            <a:r>
              <a:rPr lang="zh-CN" altLang="en-US" sz="2275" b="1" dirty="0"/>
              <a:t>依赖对常见代码模式、协议模式和加固模式的经验归纳</a:t>
            </a:r>
          </a:p>
          <a:p>
            <a:pPr marL="342900" marR="0" indent="-342900" algn="just" defTabSz="914400" rtl="0">
              <a:lnSpc>
                <a:spcPct val="100000"/>
              </a:lnSpc>
              <a:spcBef>
                <a:spcPts val="0"/>
              </a:spcBef>
              <a:spcAft>
                <a:spcPts val="0"/>
              </a:spcAft>
              <a:buClr>
                <a:srgbClr val="9C181E"/>
              </a:buClr>
              <a:buFont typeface="Wingdings" panose="05000000000000000000"/>
              <a:buChar char="n"/>
              <a:defRPr lang="en-US" sz="3200" b="0" i="0" u="none" strike="noStrike" cap="none" spc="0">
                <a:solidFill>
                  <a:srgbClr val="000000"/>
                </a:solidFill>
                <a:latin typeface="Arial" panose="020B0604020202020204"/>
                <a:ea typeface="微软雅黑" panose="020B0503020204020204" pitchFamily="34" charset="-122"/>
                <a:cs typeface="Arial" panose="020B0604020202020204"/>
              </a:defRPr>
            </a:pPr>
            <a:endParaRPr lang="zh-CN" altLang="en-US" sz="2600" b="1" dirty="0"/>
          </a:p>
          <a:p>
            <a:pPr marL="342900" marR="0" indent="-342900" algn="just" defTabSz="914400" rtl="0">
              <a:lnSpc>
                <a:spcPct val="100000"/>
              </a:lnSpc>
              <a:spcBef>
                <a:spcPts val="0"/>
              </a:spcBef>
              <a:spcAft>
                <a:spcPts val="0"/>
              </a:spcAft>
              <a:buClr>
                <a:srgbClr val="9C181E"/>
              </a:buClr>
              <a:buFont typeface="Wingdings" panose="05000000000000000000"/>
              <a:buChar char="n"/>
              <a:defRPr lang="en-US" sz="3200" b="0" i="0" u="none" strike="noStrike" cap="none" spc="0">
                <a:solidFill>
                  <a:srgbClr val="000000"/>
                </a:solidFill>
                <a:latin typeface="Arial" panose="020B0604020202020204"/>
                <a:ea typeface="微软雅黑" panose="020B0503020204020204" pitchFamily="34" charset="-122"/>
                <a:cs typeface="Arial" panose="020B0604020202020204"/>
              </a:defRPr>
            </a:pPr>
            <a:r>
              <a:rPr lang="zh-CN" sz="2600" b="1" dirty="0"/>
              <a:t>解决思路：</a:t>
            </a:r>
          </a:p>
          <a:p>
            <a:pPr marL="742950" marR="0" lvl="1" indent="-342900" algn="just" defTabSz="914400" rtl="0">
              <a:lnSpc>
                <a:spcPct val="100000"/>
              </a:lnSpc>
              <a:spcBef>
                <a:spcPts val="0"/>
              </a:spcBef>
              <a:spcAft>
                <a:spcPts val="0"/>
              </a:spcAft>
              <a:buClr>
                <a:srgbClr val="9C181E"/>
              </a:buClr>
              <a:buFont typeface="Wingdings" panose="05000000000000000000"/>
              <a:buChar char="n"/>
              <a:defRPr lang="en-US" sz="3200" b="0" i="0" u="none" strike="noStrike" cap="none" spc="0">
                <a:solidFill>
                  <a:srgbClr val="000000"/>
                </a:solidFill>
                <a:latin typeface="Arial" panose="020B0604020202020204"/>
                <a:ea typeface="微软雅黑" panose="020B0503020204020204" pitchFamily="34" charset="-122"/>
                <a:cs typeface="Arial" panose="020B0604020202020204"/>
              </a:defRPr>
            </a:pPr>
            <a:r>
              <a:rPr lang="zh-CN" altLang="en-US" sz="2600" b="1" dirty="0"/>
              <a:t>针对已有方案：</a:t>
            </a:r>
            <a:r>
              <a:rPr lang="zh-CN" sz="2600" b="1" dirty="0"/>
              <a:t>超过智能体的“经验”</a:t>
            </a:r>
          </a:p>
          <a:p>
            <a:pPr marL="1200150" marR="0" lvl="2" indent="-342900" algn="just" defTabSz="914400" rtl="0">
              <a:lnSpc>
                <a:spcPct val="100000"/>
              </a:lnSpc>
              <a:spcBef>
                <a:spcPts val="0"/>
              </a:spcBef>
              <a:spcAft>
                <a:spcPts val="0"/>
              </a:spcAft>
              <a:buClr>
                <a:srgbClr val="9C181E"/>
              </a:buClr>
              <a:buFont typeface="Wingdings" panose="05000000000000000000"/>
              <a:buChar char="n"/>
              <a:defRPr lang="en-US" sz="3200" b="0" i="0" u="none" strike="noStrike" cap="none" spc="0">
                <a:solidFill>
                  <a:srgbClr val="000000"/>
                </a:solidFill>
                <a:latin typeface="Arial" panose="020B0604020202020204"/>
                <a:ea typeface="微软雅黑" panose="020B0503020204020204" pitchFamily="34" charset="-122"/>
                <a:cs typeface="Arial" panose="020B0604020202020204"/>
              </a:defRPr>
            </a:pPr>
            <a:r>
              <a:rPr lang="zh-CN" sz="2225" b="1" dirty="0"/>
              <a:t>智能体的逆向大多基于已有的经验来完成的，设计新的对抗方法，例如非常见的混淆方法等使其无法成功分析。</a:t>
            </a:r>
          </a:p>
          <a:p>
            <a:pPr marL="742950" marR="0" lvl="1" indent="-342900" algn="just" defTabSz="914400" rtl="0">
              <a:lnSpc>
                <a:spcPct val="100000"/>
              </a:lnSpc>
              <a:spcBef>
                <a:spcPts val="0"/>
              </a:spcBef>
              <a:spcAft>
                <a:spcPts val="0"/>
              </a:spcAft>
              <a:buClr>
                <a:srgbClr val="9C181E"/>
              </a:buClr>
              <a:buFont typeface="Wingdings" panose="05000000000000000000"/>
              <a:buChar char="n"/>
              <a:defRPr lang="en-US" sz="3200" b="0" i="0" u="none" strike="noStrike" cap="none" spc="0">
                <a:solidFill>
                  <a:srgbClr val="000000"/>
                </a:solidFill>
                <a:latin typeface="Arial" panose="020B0604020202020204"/>
                <a:ea typeface="微软雅黑" panose="020B0503020204020204" pitchFamily="34" charset="-122"/>
                <a:cs typeface="Arial" panose="020B0604020202020204"/>
              </a:defRPr>
            </a:pPr>
            <a:r>
              <a:rPr lang="zh-CN" altLang="en-US" sz="2600" b="1" dirty="0"/>
              <a:t>针对</a:t>
            </a:r>
            <a:r>
              <a:rPr lang="en-US" altLang="zh-CN" sz="2600" b="1" dirty="0" err="1"/>
              <a:t>agnet</a:t>
            </a:r>
            <a:r>
              <a:rPr lang="zh-CN" altLang="en-US" sz="2600" b="1" dirty="0"/>
              <a:t>主动对抗：</a:t>
            </a:r>
            <a:r>
              <a:rPr lang="zh-CN" sz="2600" b="1" dirty="0"/>
              <a:t>使其疲劳、受骗、放弃逆向</a:t>
            </a:r>
          </a:p>
          <a:p>
            <a:pPr marL="1200150" marR="0" lvl="2" indent="-342900" algn="just" defTabSz="914400" rtl="0">
              <a:lnSpc>
                <a:spcPct val="100000"/>
              </a:lnSpc>
              <a:spcBef>
                <a:spcPts val="0"/>
              </a:spcBef>
              <a:spcAft>
                <a:spcPts val="0"/>
              </a:spcAft>
              <a:buClr>
                <a:srgbClr val="9C181E"/>
              </a:buClr>
              <a:buFont typeface="Wingdings" panose="05000000000000000000"/>
              <a:buChar char="n"/>
              <a:defRPr lang="en-US" sz="3200" b="0" i="0" u="none" strike="noStrike" cap="none" spc="0">
                <a:solidFill>
                  <a:srgbClr val="000000"/>
                </a:solidFill>
                <a:latin typeface="Arial" panose="020B0604020202020204"/>
                <a:ea typeface="微软雅黑" panose="020B0503020204020204" pitchFamily="34" charset="-122"/>
                <a:cs typeface="Arial" panose="020B0604020202020204"/>
              </a:defRPr>
            </a:pPr>
            <a:r>
              <a:rPr lang="zh-CN" sz="2225" b="1" dirty="0"/>
              <a:t>针对大模型进行对抗，使模型无法正确的进行逆向分析。</a:t>
            </a:r>
          </a:p>
          <a:p>
            <a:pPr marL="342900" marR="0" indent="-342900" algn="just" defTabSz="914400" rtl="0">
              <a:lnSpc>
                <a:spcPct val="100000"/>
              </a:lnSpc>
              <a:spcBef>
                <a:spcPts val="0"/>
              </a:spcBef>
              <a:spcAft>
                <a:spcPts val="0"/>
              </a:spcAft>
              <a:buClr>
                <a:srgbClr val="9C181E"/>
              </a:buClr>
              <a:buFont typeface="Wingdings" panose="05000000000000000000"/>
              <a:buChar char="n"/>
              <a:defRPr lang="en-US" sz="3200" b="0" i="0" u="none" strike="noStrike" cap="none" spc="0">
                <a:solidFill>
                  <a:srgbClr val="000000"/>
                </a:solidFill>
                <a:latin typeface="Arial" panose="020B0604020202020204"/>
                <a:ea typeface="微软雅黑" panose="020B0503020204020204" pitchFamily="34" charset="-122"/>
                <a:cs typeface="Arial" panose="020B0604020202020204"/>
              </a:defRPr>
            </a:pPr>
            <a:endParaRPr lang="zh-CN" sz="2600" b="1" dirty="0"/>
          </a:p>
          <a:p>
            <a:pPr marL="342900" marR="0" indent="-342900" algn="just" defTabSz="914400" rtl="0">
              <a:lnSpc>
                <a:spcPct val="100000"/>
              </a:lnSpc>
              <a:spcBef>
                <a:spcPct val="20000"/>
              </a:spcBef>
              <a:spcAft>
                <a:spcPts val="0"/>
              </a:spcAft>
              <a:buClr>
                <a:srgbClr val="9C181E"/>
              </a:buClr>
              <a:buFont typeface="Wingdings" panose="05000000000000000000"/>
              <a:buChar char="n"/>
              <a:defRPr lang="en-US" sz="3200" b="0" i="0" u="none" strike="noStrike" cap="none" spc="0">
                <a:solidFill>
                  <a:srgbClr val="000000"/>
                </a:solidFill>
                <a:latin typeface="Arial" panose="020B0604020202020204"/>
                <a:ea typeface="微软雅黑" panose="020B0503020204020204" pitchFamily="34" charset="-122"/>
                <a:cs typeface="Arial" panose="020B0604020202020204"/>
              </a:defRPr>
            </a:pPr>
            <a:endParaRPr lang="en-US" sz="2600" b="1" dirty="0"/>
          </a:p>
          <a:p>
            <a:pPr marL="342900" marR="0" indent="-342900" algn="just" defTabSz="914400" rtl="0">
              <a:lnSpc>
                <a:spcPct val="100000"/>
              </a:lnSpc>
              <a:spcBef>
                <a:spcPct val="20000"/>
              </a:spcBef>
              <a:spcAft>
                <a:spcPts val="0"/>
              </a:spcAft>
              <a:buClr>
                <a:srgbClr val="9C181E"/>
              </a:buClr>
              <a:buFont typeface="Wingdings" panose="05000000000000000000"/>
              <a:buChar char="n"/>
              <a:defRPr lang="en-US" sz="3200" b="0" i="0" u="none" strike="noStrike" cap="none" spc="0">
                <a:solidFill>
                  <a:srgbClr val="000000"/>
                </a:solidFill>
                <a:latin typeface="Arial" panose="020B0604020202020204"/>
                <a:ea typeface="微软雅黑" panose="020B0503020204020204" pitchFamily="34" charset="-122"/>
                <a:cs typeface="Arial" panose="020B0604020202020204"/>
              </a:defRPr>
            </a:pPr>
            <a:endParaRPr lang="en-US" sz="2400" b="1"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bwMode="auto">
          <a:xfrm>
            <a:off x="1231900" y="233804"/>
            <a:ext cx="10515600" cy="613434"/>
          </a:xfrm>
          <a:prstGeom prst="rect">
            <a:avLst/>
          </a:prstGeom>
        </p:spPr>
        <p:txBody>
          <a:bodyPr/>
          <a:lstStyle/>
          <a:p>
            <a:pPr marL="0" marR="0" indent="0" algn="l" defTabSz="914400" rtl="0">
              <a:lnSpc>
                <a:spcPct val="90000"/>
              </a:lnSpc>
              <a:spcBef>
                <a:spcPts val="0"/>
              </a:spcBef>
              <a:spcAft>
                <a:spcPts val="0"/>
              </a:spcAft>
              <a:buNone/>
              <a:defRPr lang="en-US" sz="3600" b="1" i="0" u="none" strike="noStrike" cap="none" spc="0">
                <a:solidFill>
                  <a:srgbClr val="000000"/>
                </a:solidFill>
                <a:latin typeface="微软雅黑" panose="020B0503020204020204" pitchFamily="34" charset="-122"/>
                <a:ea typeface="微软雅黑" panose="020B0503020204020204" pitchFamily="34" charset="-122"/>
              </a:defRPr>
            </a:pPr>
            <a:r>
              <a:rPr lang="zh-CN" altLang="en-US" dirty="0"/>
              <a:t>逆向对抗思路：传统方法</a:t>
            </a:r>
            <a:r>
              <a:rPr lang="en-US" altLang="zh-CN" dirty="0"/>
              <a:t>+</a:t>
            </a:r>
            <a:r>
              <a:rPr lang="zh-CN" altLang="en-US" dirty="0"/>
              <a:t>主动对抗</a:t>
            </a:r>
            <a:endParaRPr lang="zh-CN" dirty="0"/>
          </a:p>
        </p:txBody>
      </p:sp>
      <p:sp>
        <p:nvSpPr>
          <p:cNvPr id="6" name="文本框 5">
            <a:extLst>
              <a:ext uri="{FF2B5EF4-FFF2-40B4-BE49-F238E27FC236}">
                <a16:creationId xmlns:a16="http://schemas.microsoft.com/office/drawing/2014/main" id="{B0077661-5AA7-8165-157D-907EB7612F70}"/>
              </a:ext>
            </a:extLst>
          </p:cNvPr>
          <p:cNvSpPr txBox="1"/>
          <p:nvPr/>
        </p:nvSpPr>
        <p:spPr>
          <a:xfrm>
            <a:off x="112889" y="1185333"/>
            <a:ext cx="5384800" cy="4985980"/>
          </a:xfrm>
          <a:prstGeom prst="rect">
            <a:avLst/>
          </a:prstGeom>
          <a:noFill/>
        </p:spPr>
        <p:txBody>
          <a:bodyPr wrap="square" rtlCol="0">
            <a:spAutoFit/>
          </a:bodyPr>
          <a:lstStyle/>
          <a:p>
            <a:r>
              <a:rPr lang="zh-CN" altLang="en-US" sz="3200" b="1" dirty="0"/>
              <a:t>传统方法</a:t>
            </a:r>
            <a:endParaRPr lang="en-US" altLang="zh-CN" sz="3200" b="1" dirty="0"/>
          </a:p>
          <a:p>
            <a:pPr marL="285750" indent="-285750">
              <a:buFont typeface="Wingdings" panose="05000000000000000000" pitchFamily="2" charset="2"/>
              <a:buChar char="l"/>
            </a:pPr>
            <a:r>
              <a:rPr lang="zh-CN" altLang="zh-CN" sz="2000" b="1" dirty="0"/>
              <a:t>更强的静态、动态加固与混淆</a:t>
            </a:r>
            <a:endParaRPr lang="en-US" altLang="zh-CN" sz="2000" b="1" dirty="0"/>
          </a:p>
          <a:p>
            <a:pPr marL="742950" lvl="1" indent="-285750">
              <a:buFont typeface="Wingdings" panose="05000000000000000000" pitchFamily="2" charset="2"/>
              <a:buChar char="l"/>
            </a:pPr>
            <a:r>
              <a:rPr lang="zh-CN" altLang="en-US" b="1" dirty="0"/>
              <a:t>混淆，降低静态样本中的语义线索，</a:t>
            </a:r>
            <a:r>
              <a:rPr lang="zh-CN" altLang="en-US" b="1" dirty="0">
                <a:sym typeface="+mn-ea"/>
              </a:rPr>
              <a:t>使智能体难以快速定位核心逻辑。</a:t>
            </a:r>
            <a:endParaRPr lang="en-US" altLang="zh-CN" b="1" dirty="0">
              <a:sym typeface="+mn-ea"/>
            </a:endParaRPr>
          </a:p>
          <a:p>
            <a:pPr marL="742950" lvl="1" indent="-285750">
              <a:buFont typeface="Wingdings" panose="05000000000000000000" pitchFamily="2" charset="2"/>
              <a:buChar char="l"/>
            </a:pPr>
            <a:r>
              <a:rPr lang="en-US" altLang="zh-CN" b="1" dirty="0"/>
              <a:t>VMP、</a:t>
            </a:r>
            <a:r>
              <a:rPr lang="zh-CN" altLang="en-US" b="1" dirty="0"/>
              <a:t>加壳与动态加载</a:t>
            </a:r>
            <a:endParaRPr lang="en-US" altLang="zh-CN" dirty="0"/>
          </a:p>
          <a:p>
            <a:pPr marL="285750" indent="-285750">
              <a:buFont typeface="Wingdings" panose="05000000000000000000" pitchFamily="2" charset="2"/>
              <a:buChar char="l"/>
            </a:pPr>
            <a:r>
              <a:rPr lang="zh-CN" altLang="zh-CN" sz="2400" b="1" dirty="0"/>
              <a:t>更强的环境感知与阻断</a:t>
            </a:r>
            <a:endParaRPr lang="en-US" altLang="zh-CN" sz="2400" b="1" dirty="0"/>
          </a:p>
          <a:p>
            <a:pPr marL="742950" lvl="1" indent="-285750">
              <a:buFont typeface="Wingdings" panose="05000000000000000000" pitchFamily="2" charset="2"/>
              <a:buChar char="l"/>
            </a:pPr>
            <a:r>
              <a:rPr lang="en-US" altLang="zh-CN" b="1" dirty="0" err="1"/>
              <a:t>检测风险环境：root、hook、动态调试</a:t>
            </a:r>
            <a:endParaRPr lang="en-US" altLang="zh-CN" b="1" dirty="0"/>
          </a:p>
          <a:p>
            <a:pPr marL="742950" lvl="1" indent="-285750">
              <a:buFont typeface="Wingdings" panose="05000000000000000000" pitchFamily="2" charset="2"/>
              <a:buChar char="l"/>
            </a:pPr>
            <a:r>
              <a:rPr lang="en-US" altLang="zh-CN" b="1" dirty="0" err="1">
                <a:solidFill>
                  <a:srgbClr val="000000"/>
                </a:solidFill>
              </a:rPr>
              <a:t>检测大模型分析：服务端API异常调用</a:t>
            </a:r>
            <a:endParaRPr lang="en-US" altLang="zh-CN" b="1" dirty="0">
              <a:solidFill>
                <a:srgbClr val="000000"/>
              </a:solidFill>
            </a:endParaRPr>
          </a:p>
          <a:p>
            <a:r>
              <a:rPr lang="zh-CN" altLang="en-US" sz="3200" b="1" dirty="0"/>
              <a:t>主动对抗</a:t>
            </a:r>
            <a:endParaRPr lang="en-US" altLang="zh-CN" sz="3200" b="1" dirty="0"/>
          </a:p>
          <a:p>
            <a:pPr marL="457200" indent="-457200">
              <a:buFont typeface="Wingdings" panose="05000000000000000000" pitchFamily="2" charset="2"/>
              <a:buChar char="l"/>
            </a:pPr>
            <a:r>
              <a:rPr lang="zh-CN" altLang="en-US" sz="2000" b="1" dirty="0"/>
              <a:t>内容护栏触发（</a:t>
            </a:r>
            <a:r>
              <a:rPr lang="en-US" altLang="zh-CN" sz="2000" b="1" dirty="0"/>
              <a:t>CBRN</a:t>
            </a:r>
            <a:r>
              <a:rPr lang="zh-CN" altLang="en-US" sz="2000" b="1" dirty="0"/>
              <a:t>）</a:t>
            </a:r>
            <a:endParaRPr lang="en-US" altLang="zh-CN" sz="2000" b="1" dirty="0"/>
          </a:p>
          <a:p>
            <a:pPr marL="457200" indent="-457200">
              <a:buFont typeface="Wingdings" panose="05000000000000000000" pitchFamily="2" charset="2"/>
              <a:buChar char="l"/>
            </a:pPr>
            <a:r>
              <a:rPr lang="zh-CN" altLang="en-US" sz="2000" b="1" dirty="0"/>
              <a:t>逻辑蜜罐欺骗（捷径，</a:t>
            </a:r>
            <a:r>
              <a:rPr lang="en-US" altLang="zh-CN" sz="2000" b="1" dirty="0"/>
              <a:t>short cut familiar</a:t>
            </a:r>
            <a:r>
              <a:rPr lang="zh-CN" altLang="en-US" sz="2000" b="1" dirty="0"/>
              <a:t>）</a:t>
            </a:r>
            <a:endParaRPr lang="en-US" altLang="zh-CN" sz="2000" b="1" dirty="0"/>
          </a:p>
          <a:p>
            <a:pPr marL="457200" indent="-457200">
              <a:buFont typeface="Wingdings" panose="05000000000000000000" pitchFamily="2" charset="2"/>
              <a:buChar char="l"/>
            </a:pPr>
            <a:r>
              <a:rPr lang="zh-CN" altLang="en-US" sz="2000" b="1" dirty="0"/>
              <a:t>计算过载（</a:t>
            </a:r>
            <a:r>
              <a:rPr lang="en-US" altLang="zh-CN" sz="2000" b="1" dirty="0"/>
              <a:t>token, context, cot</a:t>
            </a:r>
            <a:r>
              <a:rPr lang="zh-CN" altLang="en-US" sz="2000" b="1" dirty="0"/>
              <a:t>）</a:t>
            </a:r>
            <a:endParaRPr lang="en-US" altLang="zh-CN" sz="2000" b="1" dirty="0"/>
          </a:p>
          <a:p>
            <a:pPr marL="457200" indent="-457200">
              <a:buFont typeface="Wingdings" panose="05000000000000000000" pitchFamily="2" charset="2"/>
              <a:buChar char="l"/>
            </a:pPr>
            <a:r>
              <a:rPr lang="zh-CN" altLang="en-US" sz="2000" b="1" dirty="0"/>
              <a:t>对抗样本（针对大模型，智能体的内部坍塌，毒素累积）</a:t>
            </a:r>
            <a:endParaRPr lang="en-US" altLang="zh-CN" sz="2000" b="1" dirty="0"/>
          </a:p>
          <a:p>
            <a:pPr marL="457200" indent="-457200">
              <a:buFont typeface="Wingdings" panose="05000000000000000000" pitchFamily="2" charset="2"/>
              <a:buChar char="l"/>
            </a:pPr>
            <a:endParaRPr lang="en-US" altLang="zh-CN" sz="2000" b="1" dirty="0"/>
          </a:p>
        </p:txBody>
      </p:sp>
      <p:pic>
        <p:nvPicPr>
          <p:cNvPr id="5" name="图片 4">
            <a:extLst>
              <a:ext uri="{FF2B5EF4-FFF2-40B4-BE49-F238E27FC236}">
                <a16:creationId xmlns:a16="http://schemas.microsoft.com/office/drawing/2014/main" id="{1D915764-88B4-9CE1-F4FC-E7E8DCE1EA89}"/>
              </a:ext>
            </a:extLst>
          </p:cNvPr>
          <p:cNvPicPr>
            <a:picLocks noChangeAspect="1"/>
          </p:cNvPicPr>
          <p:nvPr/>
        </p:nvPicPr>
        <p:blipFill>
          <a:blip r:embed="rId3"/>
          <a:stretch>
            <a:fillRect/>
          </a:stretch>
        </p:blipFill>
        <p:spPr>
          <a:xfrm>
            <a:off x="7013856" y="4016654"/>
            <a:ext cx="3525392" cy="2706762"/>
          </a:xfrm>
          <a:prstGeom prst="rect">
            <a:avLst/>
          </a:prstGeom>
        </p:spPr>
      </p:pic>
      <p:pic>
        <p:nvPicPr>
          <p:cNvPr id="3" name="图片 2">
            <a:extLst>
              <a:ext uri="{FF2B5EF4-FFF2-40B4-BE49-F238E27FC236}">
                <a16:creationId xmlns:a16="http://schemas.microsoft.com/office/drawing/2014/main" id="{B8E3D3AF-302C-2D86-AEC0-864432985BE5}"/>
              </a:ext>
            </a:extLst>
          </p:cNvPr>
          <p:cNvPicPr>
            <a:picLocks/>
          </p:cNvPicPr>
          <p:nvPr/>
        </p:nvPicPr>
        <p:blipFill>
          <a:blip r:embed="rId4"/>
          <a:srcRect t="14710" b="5683"/>
          <a:stretch>
            <a:fillRect/>
          </a:stretch>
        </p:blipFill>
        <p:spPr>
          <a:xfrm>
            <a:off x="5497689" y="1016285"/>
            <a:ext cx="6355643" cy="2831321"/>
          </a:xfrm>
          <a:prstGeom prst="rect">
            <a:avLst/>
          </a:prstGeom>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89F7B-55DA-E4C0-C82D-D7ACCF80161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2A6E9F9-F04A-C210-A6CE-CE288033BC17}"/>
              </a:ext>
            </a:extLst>
          </p:cNvPr>
          <p:cNvSpPr>
            <a:spLocks noGrp="1"/>
          </p:cNvSpPr>
          <p:nvPr>
            <p:ph type="title"/>
          </p:nvPr>
        </p:nvSpPr>
        <p:spPr>
          <a:xfrm>
            <a:off x="1098735" y="233805"/>
            <a:ext cx="10515600" cy="613434"/>
          </a:xfrm>
        </p:spPr>
        <p:txBody>
          <a:bodyPr/>
          <a:lstStyle/>
          <a:p>
            <a:r>
              <a:rPr lang="zh-CN" altLang="en-US" dirty="0"/>
              <a:t>内容护栏触发</a:t>
            </a:r>
          </a:p>
        </p:txBody>
      </p:sp>
      <p:sp>
        <p:nvSpPr>
          <p:cNvPr id="4" name="文本框 3">
            <a:extLst>
              <a:ext uri="{FF2B5EF4-FFF2-40B4-BE49-F238E27FC236}">
                <a16:creationId xmlns:a16="http://schemas.microsoft.com/office/drawing/2014/main" id="{FEB7A4B0-411A-EA3D-8248-79AEAA5D8893}"/>
              </a:ext>
            </a:extLst>
          </p:cNvPr>
          <p:cNvSpPr/>
          <p:nvPr/>
        </p:nvSpPr>
        <p:spPr>
          <a:xfrm>
            <a:off x="-284084" y="1026816"/>
            <a:ext cx="12378430" cy="646331"/>
          </a:xfrm>
          <a:prstGeom prst="rect">
            <a:avLst/>
          </a:prstGeom>
          <a:noFill/>
        </p:spPr>
        <p:txBody>
          <a:bodyPr wrap="square">
            <a:spAutoFit/>
          </a:bodyPr>
          <a:lstStyle/>
          <a:p>
            <a:pPr marR="0" lvl="1" algn="just" defTabSz="914400" rtl="0">
              <a:lnSpc>
                <a:spcPct val="100000"/>
              </a:lnSpc>
              <a:spcBef>
                <a:spcPts val="0"/>
              </a:spcBef>
              <a:spcAft>
                <a:spcPts val="0"/>
              </a:spcAft>
              <a:buClr>
                <a:srgbClr val="9C181E"/>
              </a:buClr>
              <a:defRPr lang="en-US" sz="3200" b="0" i="0" u="none" strike="noStrike" cap="none" spc="0">
                <a:solidFill>
                  <a:srgbClr val="000000"/>
                </a:solidFill>
                <a:latin typeface="Arial" panose="020B0604020202020204"/>
                <a:ea typeface="微软雅黑" panose="020B0503020204020204" pitchFamily="34" charset="-122"/>
                <a:cs typeface="Arial" panose="020B0604020202020204"/>
              </a:defRPr>
            </a:pPr>
            <a:r>
              <a:rPr lang="zh-CN" altLang="en-US" sz="1800" b="1" dirty="0"/>
              <a:t>构造容易触发模型安全策略的内容，并将其注入到源码中污染模型的上下文从而触发其内容安全相关的护栏，停止逆向分析</a:t>
            </a:r>
          </a:p>
        </p:txBody>
      </p:sp>
      <p:sp>
        <p:nvSpPr>
          <p:cNvPr id="9" name="文本框 8">
            <a:extLst>
              <a:ext uri="{FF2B5EF4-FFF2-40B4-BE49-F238E27FC236}">
                <a16:creationId xmlns:a16="http://schemas.microsoft.com/office/drawing/2014/main" id="{B310371F-9AC4-5478-32FF-F5E47D13E7DD}"/>
              </a:ext>
            </a:extLst>
          </p:cNvPr>
          <p:cNvSpPr/>
          <p:nvPr/>
        </p:nvSpPr>
        <p:spPr>
          <a:xfrm>
            <a:off x="293087" y="2039155"/>
            <a:ext cx="4651775" cy="646331"/>
          </a:xfrm>
          <a:prstGeom prst="rect">
            <a:avLst/>
          </a:prstGeom>
          <a:noFill/>
        </p:spPr>
        <p:txBody>
          <a:bodyPr wrap="square">
            <a:spAutoFit/>
          </a:bodyPr>
          <a:lstStyle/>
          <a:p>
            <a:endParaRPr lang="en-US" altLang="zh-CN" dirty="0"/>
          </a:p>
          <a:p>
            <a:endParaRPr lang="zh-CN" altLang="en-US" dirty="0"/>
          </a:p>
        </p:txBody>
      </p:sp>
      <p:sp>
        <p:nvSpPr>
          <p:cNvPr id="3" name="文本框 2">
            <a:extLst>
              <a:ext uri="{FF2B5EF4-FFF2-40B4-BE49-F238E27FC236}">
                <a16:creationId xmlns:a16="http://schemas.microsoft.com/office/drawing/2014/main" id="{18A709AC-EFE5-7D4C-BC17-C1CB9B6E4F5B}"/>
              </a:ext>
            </a:extLst>
          </p:cNvPr>
          <p:cNvSpPr txBox="1"/>
          <p:nvPr/>
        </p:nvSpPr>
        <p:spPr>
          <a:xfrm>
            <a:off x="42211" y="1576977"/>
            <a:ext cx="4651776" cy="5324535"/>
          </a:xfrm>
          <a:prstGeom prst="rect">
            <a:avLst/>
          </a:prstGeom>
          <a:noFill/>
        </p:spPr>
        <p:txBody>
          <a:bodyPr wrap="square" rtlCol="0">
            <a:spAutoFit/>
          </a:bodyPr>
          <a:lstStyle/>
          <a:p>
            <a:r>
              <a:rPr lang="en-US" altLang="zh-CN" sz="2800" b="1" dirty="0"/>
              <a:t>CBRN pool</a:t>
            </a:r>
          </a:p>
          <a:p>
            <a:pPr marL="285750" indent="-285750">
              <a:buFont typeface="Wingdings" panose="05000000000000000000" pitchFamily="2" charset="2"/>
              <a:buChar char="l"/>
            </a:pPr>
            <a:r>
              <a:rPr lang="zh-CN" altLang="en-US" b="1" dirty="0"/>
              <a:t>构建了一个</a:t>
            </a:r>
            <a:r>
              <a:rPr lang="en-US" altLang="zh-CN" b="1" dirty="0"/>
              <a:t>CBRN</a:t>
            </a:r>
            <a:r>
              <a:rPr lang="zh-CN" altLang="en-US" b="1" dirty="0"/>
              <a:t>类护栏触发</a:t>
            </a:r>
            <a:r>
              <a:rPr lang="en-US" altLang="zh-CN" b="1" dirty="0"/>
              <a:t>pool</a:t>
            </a:r>
            <a:r>
              <a:rPr lang="zh-CN" altLang="en-US" b="1" dirty="0"/>
              <a:t>，内含</a:t>
            </a:r>
            <a:r>
              <a:rPr lang="en-US" altLang="zh-CN" b="1" dirty="0"/>
              <a:t>C</a:t>
            </a:r>
            <a:r>
              <a:rPr lang="zh-CN" altLang="en-US" b="1" dirty="0"/>
              <a:t>（化），</a:t>
            </a:r>
            <a:r>
              <a:rPr lang="en-US" altLang="zh-CN" b="1" dirty="0"/>
              <a:t>B</a:t>
            </a:r>
            <a:r>
              <a:rPr lang="zh-CN" altLang="en-US" b="1" dirty="0"/>
              <a:t>（生），</a:t>
            </a:r>
            <a:r>
              <a:rPr lang="en-US" altLang="zh-CN" b="1" dirty="0"/>
              <a:t>R</a:t>
            </a:r>
            <a:r>
              <a:rPr lang="zh-CN" altLang="en-US" b="1" dirty="0"/>
              <a:t>（放），</a:t>
            </a:r>
            <a:r>
              <a:rPr lang="en-US" altLang="zh-CN" b="1" dirty="0"/>
              <a:t>N</a:t>
            </a:r>
            <a:r>
              <a:rPr lang="zh-CN" altLang="en-US" b="1" dirty="0"/>
              <a:t>（核）类危险提示词，总计</a:t>
            </a:r>
            <a:r>
              <a:rPr lang="en-US" altLang="zh-CN" b="1" dirty="0"/>
              <a:t>41</a:t>
            </a:r>
            <a:r>
              <a:rPr lang="zh-CN" altLang="en-US" b="1" dirty="0"/>
              <a:t>条（</a:t>
            </a:r>
            <a:r>
              <a:rPr lang="en-US" altLang="zh-CN" b="1" dirty="0"/>
              <a:t>B 11</a:t>
            </a:r>
            <a:r>
              <a:rPr lang="zh-CN" altLang="en-US" b="1" dirty="0"/>
              <a:t>条，其他的都为</a:t>
            </a:r>
            <a:r>
              <a:rPr lang="en-US" altLang="zh-CN" b="1" dirty="0"/>
              <a:t>10</a:t>
            </a:r>
            <a:r>
              <a:rPr lang="zh-CN" altLang="en-US" b="1" dirty="0"/>
              <a:t>条）</a:t>
            </a:r>
            <a:r>
              <a:rPr lang="en-US" altLang="zh-CN" b="1" dirty="0"/>
              <a:t>,</a:t>
            </a:r>
            <a:r>
              <a:rPr lang="zh-CN" altLang="en-US" b="1" dirty="0"/>
              <a:t>并通过四个国外的模型（</a:t>
            </a:r>
            <a:r>
              <a:rPr lang="en-US" altLang="zh-CN" b="1" dirty="0" err="1"/>
              <a:t>gemini</a:t>
            </a:r>
            <a:r>
              <a:rPr lang="zh-CN" altLang="en-US" b="1" dirty="0"/>
              <a:t>，</a:t>
            </a:r>
            <a:r>
              <a:rPr lang="en-US" altLang="zh-CN" b="1" dirty="0" err="1"/>
              <a:t>gpt</a:t>
            </a:r>
            <a:r>
              <a:rPr lang="zh-CN" altLang="en-US" b="1" dirty="0"/>
              <a:t>，</a:t>
            </a:r>
            <a:r>
              <a:rPr lang="en-US" altLang="zh-CN" b="1" dirty="0" err="1"/>
              <a:t>claude</a:t>
            </a:r>
            <a:r>
              <a:rPr lang="zh-CN" altLang="en-US" b="1" dirty="0"/>
              <a:t>，</a:t>
            </a:r>
            <a:r>
              <a:rPr lang="en-US" altLang="zh-CN" b="1" dirty="0"/>
              <a:t>grok</a:t>
            </a:r>
            <a:r>
              <a:rPr lang="zh-CN" altLang="en-US" b="1" dirty="0"/>
              <a:t>）进行了</a:t>
            </a:r>
            <a:r>
              <a:rPr lang="en-US" altLang="zh-CN" b="1" dirty="0"/>
              <a:t>164</a:t>
            </a:r>
            <a:r>
              <a:rPr lang="zh-CN" altLang="en-US" b="1" dirty="0"/>
              <a:t>次测试。</a:t>
            </a:r>
            <a:endParaRPr lang="en-US" altLang="zh-CN" b="1" dirty="0"/>
          </a:p>
          <a:p>
            <a:r>
              <a:rPr lang="zh-CN" altLang="en-US" sz="2400" b="1" dirty="0"/>
              <a:t>注入载体</a:t>
            </a:r>
            <a:endParaRPr lang="en-US" altLang="zh-CN" sz="2400" b="1" dirty="0"/>
          </a:p>
          <a:p>
            <a:pPr marL="342900" indent="-342900">
              <a:buFont typeface="Wingdings" panose="05000000000000000000" pitchFamily="2" charset="2"/>
              <a:buChar char="l"/>
            </a:pPr>
            <a:r>
              <a:rPr lang="en-US" altLang="zh-CN" sz="2000" b="1" dirty="0"/>
              <a:t>Manifest +meta</a:t>
            </a:r>
          </a:p>
          <a:p>
            <a:pPr marL="800100" lvl="1" indent="-342900">
              <a:buFont typeface="Wingdings" panose="05000000000000000000" pitchFamily="2" charset="2"/>
              <a:buChar char="l"/>
            </a:pPr>
            <a:r>
              <a:rPr lang="zh-CN" altLang="en-US" sz="2000" b="1" dirty="0"/>
              <a:t>注入在</a:t>
            </a:r>
            <a:r>
              <a:rPr lang="en-US" altLang="zh-CN" sz="2000" b="1" dirty="0"/>
              <a:t>manifest</a:t>
            </a:r>
            <a:r>
              <a:rPr lang="zh-CN" altLang="en-US" sz="2000" b="1" dirty="0"/>
              <a:t>文件中，</a:t>
            </a:r>
            <a:r>
              <a:rPr lang="en-US" altLang="zh-CN" sz="2000" b="1" dirty="0"/>
              <a:t>agent</a:t>
            </a:r>
            <a:r>
              <a:rPr lang="zh-CN" altLang="en-US" sz="2000" b="1" dirty="0"/>
              <a:t>每次进行逆向分析的时候都会首先分析</a:t>
            </a:r>
            <a:r>
              <a:rPr lang="en-US" altLang="zh-CN" sz="2000" b="1" dirty="0"/>
              <a:t>manifest</a:t>
            </a:r>
            <a:r>
              <a:rPr lang="zh-CN" altLang="en-US" sz="2000" b="1" dirty="0"/>
              <a:t>文件。</a:t>
            </a:r>
            <a:endParaRPr lang="en-US" altLang="zh-CN" sz="2000" b="1" dirty="0"/>
          </a:p>
          <a:p>
            <a:pPr marL="342900" indent="-342900">
              <a:buFont typeface="Wingdings" panose="05000000000000000000" pitchFamily="2" charset="2"/>
              <a:buChar char="l"/>
            </a:pPr>
            <a:r>
              <a:rPr lang="en-US" altLang="zh-CN" sz="2000" b="1" dirty="0"/>
              <a:t>string</a:t>
            </a:r>
          </a:p>
          <a:p>
            <a:pPr marL="800100" lvl="1" indent="-342900">
              <a:buFont typeface="Wingdings" panose="05000000000000000000" pitchFamily="2" charset="2"/>
              <a:buChar char="l"/>
            </a:pPr>
            <a:r>
              <a:rPr lang="zh-CN" altLang="en-US" sz="2000" b="1" dirty="0"/>
              <a:t>注入在业务附近和业务内的字符串中，当</a:t>
            </a:r>
            <a:r>
              <a:rPr lang="en-US" altLang="zh-CN" sz="2000" b="1" dirty="0"/>
              <a:t>agent</a:t>
            </a:r>
            <a:r>
              <a:rPr lang="zh-CN" altLang="en-US" sz="2000" b="1" dirty="0"/>
              <a:t>在分析当前业务的时候必定会分析到该字符串，从而触发安全护栏。</a:t>
            </a:r>
            <a:endParaRPr lang="en-US" altLang="zh-CN" sz="2000" b="1" dirty="0"/>
          </a:p>
        </p:txBody>
      </p:sp>
      <p:pic>
        <p:nvPicPr>
          <p:cNvPr id="14" name="图片 13">
            <a:extLst>
              <a:ext uri="{FF2B5EF4-FFF2-40B4-BE49-F238E27FC236}">
                <a16:creationId xmlns:a16="http://schemas.microsoft.com/office/drawing/2014/main" id="{BD345B3E-384D-A7DC-2067-C4D21F46DA30}"/>
              </a:ext>
            </a:extLst>
          </p:cNvPr>
          <p:cNvPicPr>
            <a:picLocks noChangeAspect="1"/>
          </p:cNvPicPr>
          <p:nvPr/>
        </p:nvPicPr>
        <p:blipFill>
          <a:blip r:embed="rId3"/>
          <a:stretch>
            <a:fillRect/>
          </a:stretch>
        </p:blipFill>
        <p:spPr>
          <a:xfrm>
            <a:off x="8535613" y="3620320"/>
            <a:ext cx="3365530" cy="2180327"/>
          </a:xfrm>
          <a:prstGeom prst="rect">
            <a:avLst/>
          </a:prstGeom>
        </p:spPr>
      </p:pic>
      <p:sp>
        <p:nvSpPr>
          <p:cNvPr id="16" name="文本框 15">
            <a:extLst>
              <a:ext uri="{FF2B5EF4-FFF2-40B4-BE49-F238E27FC236}">
                <a16:creationId xmlns:a16="http://schemas.microsoft.com/office/drawing/2014/main" id="{75FD3FF2-CFAD-2A89-CAB1-37F7DDF960C2}"/>
              </a:ext>
            </a:extLst>
          </p:cNvPr>
          <p:cNvSpPr txBox="1"/>
          <p:nvPr/>
        </p:nvSpPr>
        <p:spPr>
          <a:xfrm>
            <a:off x="9077104" y="5857405"/>
            <a:ext cx="2282548" cy="523220"/>
          </a:xfrm>
          <a:prstGeom prst="rect">
            <a:avLst/>
          </a:prstGeom>
          <a:noFill/>
        </p:spPr>
        <p:txBody>
          <a:bodyPr wrap="square" rtlCol="0">
            <a:spAutoFit/>
          </a:bodyPr>
          <a:lstStyle/>
          <a:p>
            <a:r>
              <a:rPr lang="zh-CN" altLang="en-US" sz="1400" dirty="0"/>
              <a:t>注入</a:t>
            </a:r>
            <a:r>
              <a:rPr lang="en-US" altLang="zh-CN" sz="1400" dirty="0"/>
              <a:t>string</a:t>
            </a:r>
            <a:r>
              <a:rPr lang="zh-CN" altLang="en-US" sz="1400" dirty="0"/>
              <a:t>后逆向分析触发</a:t>
            </a:r>
            <a:r>
              <a:rPr lang="en-US" altLang="zh-CN" sz="1400" dirty="0"/>
              <a:t>codex+gpt5.6</a:t>
            </a:r>
            <a:r>
              <a:rPr lang="zh-CN" altLang="en-US" sz="1400" dirty="0"/>
              <a:t>的安全护栏</a:t>
            </a:r>
          </a:p>
        </p:txBody>
      </p:sp>
      <p:graphicFrame>
        <p:nvGraphicFramePr>
          <p:cNvPr id="10" name="表格 9">
            <a:extLst>
              <a:ext uri="{FF2B5EF4-FFF2-40B4-BE49-F238E27FC236}">
                <a16:creationId xmlns:a16="http://schemas.microsoft.com/office/drawing/2014/main" id="{60C4318D-ED62-BB79-1821-E4ED40C52F8D}"/>
              </a:ext>
            </a:extLst>
          </p:cNvPr>
          <p:cNvGraphicFramePr>
            <a:graphicFrameLocks noGrp="1"/>
          </p:cNvGraphicFramePr>
          <p:nvPr>
            <p:extLst>
              <p:ext uri="{D42A27DB-BD31-4B8C-83A1-F6EECF244321}">
                <p14:modId xmlns:p14="http://schemas.microsoft.com/office/powerpoint/2010/main" val="2540694914"/>
              </p:ext>
            </p:extLst>
          </p:nvPr>
        </p:nvGraphicFramePr>
        <p:xfrm>
          <a:off x="5489793" y="1608021"/>
          <a:ext cx="5879578" cy="1610045"/>
        </p:xfrm>
        <a:graphic>
          <a:graphicData uri="http://schemas.openxmlformats.org/drawingml/2006/table">
            <a:tbl>
              <a:tblPr firstRow="1" bandRow="1">
                <a:tableStyleId>{5C22544A-7EE6-4342-B048-85BDC9FD1C3A}</a:tableStyleId>
              </a:tblPr>
              <a:tblGrid>
                <a:gridCol w="1358385">
                  <a:extLst>
                    <a:ext uri="{9D8B030D-6E8A-4147-A177-3AD203B41FA5}">
                      <a16:colId xmlns:a16="http://schemas.microsoft.com/office/drawing/2014/main" val="2777576572"/>
                    </a:ext>
                  </a:extLst>
                </a:gridCol>
                <a:gridCol w="973172">
                  <a:extLst>
                    <a:ext uri="{9D8B030D-6E8A-4147-A177-3AD203B41FA5}">
                      <a16:colId xmlns:a16="http://schemas.microsoft.com/office/drawing/2014/main" val="2067599693"/>
                    </a:ext>
                  </a:extLst>
                </a:gridCol>
                <a:gridCol w="1124308">
                  <a:extLst>
                    <a:ext uri="{9D8B030D-6E8A-4147-A177-3AD203B41FA5}">
                      <a16:colId xmlns:a16="http://schemas.microsoft.com/office/drawing/2014/main" val="1228623551"/>
                    </a:ext>
                  </a:extLst>
                </a:gridCol>
                <a:gridCol w="958427">
                  <a:extLst>
                    <a:ext uri="{9D8B030D-6E8A-4147-A177-3AD203B41FA5}">
                      <a16:colId xmlns:a16="http://schemas.microsoft.com/office/drawing/2014/main" val="578690102"/>
                    </a:ext>
                  </a:extLst>
                </a:gridCol>
                <a:gridCol w="1465286">
                  <a:extLst>
                    <a:ext uri="{9D8B030D-6E8A-4147-A177-3AD203B41FA5}">
                      <a16:colId xmlns:a16="http://schemas.microsoft.com/office/drawing/2014/main" val="1734520552"/>
                    </a:ext>
                  </a:extLst>
                </a:gridCol>
              </a:tblGrid>
              <a:tr h="290206">
                <a:tc>
                  <a:txBody>
                    <a:bodyPr/>
                    <a:lstStyle/>
                    <a:p>
                      <a:pPr marL="0" marR="0" indent="0" algn="ctr">
                        <a:lnSpc>
                          <a:spcPct val="135000"/>
                        </a:lnSpc>
                        <a:spcAft>
                          <a:spcPts val="500"/>
                        </a:spcAft>
                        <a:buNone/>
                      </a:pPr>
                      <a:r>
                        <a:rPr lang="zh-CN" altLang="en-US" sz="1200" b="1" dirty="0">
                          <a:solidFill>
                            <a:srgbClr val="FFFFFF"/>
                          </a:solidFill>
                          <a:effectLst/>
                          <a:latin typeface="宋体" panose="02010600030101010101" pitchFamily="2" charset="-122"/>
                          <a:ea typeface="宋体" panose="02010600030101010101" pitchFamily="2" charset="-122"/>
                          <a:cs typeface="Times New Roman" panose="02020603050405020304" pitchFamily="18" charset="0"/>
                        </a:rPr>
                        <a:t>模型</a:t>
                      </a:r>
                      <a:endParaRPr lang="zh-CN" altLang="en-US" sz="1800" dirty="0">
                        <a:effectLst/>
                        <a:latin typeface="Noto Sans CJK SC"/>
                        <a:cs typeface="Times New Roman" panose="02020603050405020304" pitchFamily="18" charset="0"/>
                      </a:endParaRPr>
                    </a:p>
                  </a:txBody>
                  <a:tcPr marL="68580" marR="68580" anchor="ctr"/>
                </a:tc>
                <a:tc>
                  <a:txBody>
                    <a:bodyPr/>
                    <a:lstStyle/>
                    <a:p>
                      <a:pPr marL="0" marR="0" indent="0" algn="ctr">
                        <a:lnSpc>
                          <a:spcPct val="135000"/>
                        </a:lnSpc>
                        <a:spcAft>
                          <a:spcPts val="500"/>
                        </a:spcAft>
                        <a:buNone/>
                      </a:pPr>
                      <a:r>
                        <a:rPr lang="zh-CN" altLang="en-US" sz="1200" b="1" dirty="0">
                          <a:solidFill>
                            <a:srgbClr val="FFFFFF"/>
                          </a:solidFill>
                          <a:effectLst/>
                          <a:latin typeface="宋体" panose="02010600030101010101" pitchFamily="2" charset="-122"/>
                          <a:ea typeface="宋体" panose="02010600030101010101" pitchFamily="2" charset="-122"/>
                          <a:cs typeface="Times New Roman" panose="02020603050405020304" pitchFamily="18" charset="0"/>
                        </a:rPr>
                        <a:t>记录数</a:t>
                      </a:r>
                      <a:endParaRPr lang="zh-CN" altLang="en-US" sz="1800" dirty="0">
                        <a:effectLst/>
                        <a:latin typeface="Noto Sans CJK SC"/>
                        <a:cs typeface="Times New Roman" panose="02020603050405020304" pitchFamily="18" charset="0"/>
                      </a:endParaRPr>
                    </a:p>
                  </a:txBody>
                  <a:tcPr marL="68580" marR="68580" anchor="ctr"/>
                </a:tc>
                <a:tc>
                  <a:txBody>
                    <a:bodyPr/>
                    <a:lstStyle/>
                    <a:p>
                      <a:pPr marL="0" marR="0" indent="0" algn="ctr">
                        <a:lnSpc>
                          <a:spcPct val="135000"/>
                        </a:lnSpc>
                        <a:spcAft>
                          <a:spcPts val="500"/>
                        </a:spcAft>
                        <a:buNone/>
                      </a:pPr>
                      <a:r>
                        <a:rPr lang="zh-CN" altLang="en-US" sz="1200" b="1" dirty="0">
                          <a:solidFill>
                            <a:srgbClr val="FFFFFF"/>
                          </a:solidFill>
                          <a:effectLst/>
                          <a:latin typeface="宋体" panose="02010600030101010101" pitchFamily="2" charset="-122"/>
                          <a:ea typeface="宋体" panose="02010600030101010101" pitchFamily="2" charset="-122"/>
                          <a:cs typeface="Times New Roman" panose="02020603050405020304" pitchFamily="18" charset="0"/>
                        </a:rPr>
                        <a:t>强阻断</a:t>
                      </a:r>
                      <a:endParaRPr lang="zh-CN" altLang="en-US" sz="1800" dirty="0">
                        <a:effectLst/>
                        <a:latin typeface="Noto Sans CJK SC"/>
                        <a:cs typeface="Times New Roman" panose="02020603050405020304" pitchFamily="18" charset="0"/>
                      </a:endParaRPr>
                    </a:p>
                  </a:txBody>
                  <a:tcPr marL="68580" marR="68580" anchor="ctr"/>
                </a:tc>
                <a:tc>
                  <a:txBody>
                    <a:bodyPr/>
                    <a:lstStyle/>
                    <a:p>
                      <a:pPr marL="0" marR="0" indent="0" algn="ctr">
                        <a:lnSpc>
                          <a:spcPct val="135000"/>
                        </a:lnSpc>
                        <a:spcAft>
                          <a:spcPts val="500"/>
                        </a:spcAft>
                        <a:buNone/>
                      </a:pPr>
                      <a:r>
                        <a:rPr lang="zh-CN" altLang="en-US" sz="1200" b="1">
                          <a:solidFill>
                            <a:srgbClr val="FFFFFF"/>
                          </a:solidFill>
                          <a:effectLst/>
                          <a:latin typeface="宋体" panose="02010600030101010101" pitchFamily="2" charset="-122"/>
                          <a:ea typeface="宋体" panose="02010600030101010101" pitchFamily="2" charset="-122"/>
                          <a:cs typeface="Times New Roman" panose="02020603050405020304" pitchFamily="18" charset="0"/>
                        </a:rPr>
                        <a:t>明确拒绝</a:t>
                      </a:r>
                      <a:endParaRPr lang="zh-CN" altLang="en-US" sz="1800">
                        <a:effectLst/>
                        <a:latin typeface="Noto Sans CJK SC"/>
                        <a:cs typeface="Times New Roman" panose="02020603050405020304" pitchFamily="18" charset="0"/>
                      </a:endParaRPr>
                    </a:p>
                  </a:txBody>
                  <a:tcPr marL="68580" marR="68580" anchor="ctr"/>
                </a:tc>
                <a:tc>
                  <a:txBody>
                    <a:bodyPr/>
                    <a:lstStyle/>
                    <a:p>
                      <a:pPr marL="0" marR="0" indent="0" algn="ctr">
                        <a:lnSpc>
                          <a:spcPct val="135000"/>
                        </a:lnSpc>
                        <a:spcAft>
                          <a:spcPts val="500"/>
                        </a:spcAft>
                        <a:buNone/>
                      </a:pPr>
                      <a:r>
                        <a:rPr lang="zh-CN" altLang="en-US" sz="1200" b="1" dirty="0">
                          <a:solidFill>
                            <a:srgbClr val="FFFFFF"/>
                          </a:solidFill>
                          <a:effectLst/>
                          <a:latin typeface="宋体" panose="02010600030101010101" pitchFamily="2" charset="-122"/>
                          <a:ea typeface="宋体" panose="02010600030101010101" pitchFamily="2" charset="-122"/>
                          <a:cs typeface="Times New Roman" panose="02020603050405020304" pitchFamily="18" charset="0"/>
                        </a:rPr>
                        <a:t>拒绝</a:t>
                      </a:r>
                      <a:r>
                        <a:rPr lang="en-US" altLang="zh-CN" sz="1200" b="1" dirty="0">
                          <a:solidFill>
                            <a:srgbClr val="FFFFFF"/>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en-US" sz="1200" b="1" dirty="0">
                          <a:solidFill>
                            <a:srgbClr val="FFFFFF"/>
                          </a:solidFill>
                          <a:effectLst/>
                          <a:latin typeface="宋体" panose="02010600030101010101" pitchFamily="2" charset="-122"/>
                          <a:ea typeface="宋体" panose="02010600030101010101" pitchFamily="2" charset="-122"/>
                          <a:cs typeface="Times New Roman" panose="02020603050405020304" pitchFamily="18" charset="0"/>
                        </a:rPr>
                        <a:t>安全替代</a:t>
                      </a:r>
                      <a:endParaRPr lang="zh-CN" altLang="en-US" sz="1800" dirty="0">
                        <a:effectLst/>
                        <a:latin typeface="Noto Sans CJK SC"/>
                        <a:cs typeface="Times New Roman" panose="02020603050405020304" pitchFamily="18" charset="0"/>
                      </a:endParaRPr>
                    </a:p>
                  </a:txBody>
                  <a:tcPr marL="68580" marR="68580" anchor="ctr"/>
                </a:tc>
                <a:extLst>
                  <a:ext uri="{0D108BD9-81ED-4DB2-BD59-A6C34878D82A}">
                    <a16:rowId xmlns:a16="http://schemas.microsoft.com/office/drawing/2014/main" val="2908957352"/>
                  </a:ext>
                </a:extLst>
              </a:tr>
              <a:tr h="297806">
                <a:tc>
                  <a:txBody>
                    <a:bodyPr/>
                    <a:lstStyle/>
                    <a:p>
                      <a:pPr marL="0" marR="0" indent="0" algn="ctr">
                        <a:lnSpc>
                          <a:spcPct val="135000"/>
                        </a:lnSpc>
                        <a:spcAft>
                          <a:spcPts val="500"/>
                        </a:spcAft>
                        <a:buNone/>
                      </a:pPr>
                      <a:r>
                        <a:rPr lang="en-US" sz="1200">
                          <a:effectLst/>
                          <a:latin typeface="宋体" panose="02010600030101010101" pitchFamily="2" charset="-122"/>
                          <a:ea typeface="宋体" panose="02010600030101010101" pitchFamily="2" charset="-122"/>
                          <a:cs typeface="Times New Roman" panose="02020603050405020304" pitchFamily="18" charset="0"/>
                        </a:rPr>
                        <a:t>Claude Sonnet 5</a:t>
                      </a:r>
                      <a:endParaRPr lang="en-US" sz="1800">
                        <a:effectLst/>
                        <a:latin typeface="Noto Sans CJK SC"/>
                        <a:cs typeface="Times New Roman" panose="02020603050405020304" pitchFamily="18" charset="0"/>
                      </a:endParaRPr>
                    </a:p>
                  </a:txBody>
                  <a:tcPr marL="57150" marR="57150" marT="50800" marB="50800" anchor="ctr"/>
                </a:tc>
                <a:tc>
                  <a:txBody>
                    <a:bodyPr/>
                    <a:lstStyle/>
                    <a:p>
                      <a:pPr marL="0" marR="0" indent="0" algn="ctr">
                        <a:lnSpc>
                          <a:spcPct val="135000"/>
                        </a:lnSpc>
                        <a:spcAft>
                          <a:spcPts val="500"/>
                        </a:spcAft>
                        <a:buNone/>
                      </a:pPr>
                      <a:r>
                        <a:rPr lang="en-US" altLang="zh-CN" sz="1200" dirty="0">
                          <a:effectLst/>
                          <a:latin typeface="宋体" panose="02010600030101010101" pitchFamily="2" charset="-122"/>
                          <a:ea typeface="宋体" panose="02010600030101010101" pitchFamily="2" charset="-122"/>
                          <a:cs typeface="Times New Roman" panose="02020603050405020304" pitchFamily="18" charset="0"/>
                        </a:rPr>
                        <a:t>41</a:t>
                      </a:r>
                      <a:endParaRPr lang="zh-CN" altLang="en-US" sz="1800" dirty="0">
                        <a:effectLst/>
                        <a:latin typeface="Noto Sans CJK SC"/>
                        <a:cs typeface="Times New Roman" panose="02020603050405020304" pitchFamily="18" charset="0"/>
                      </a:endParaRPr>
                    </a:p>
                  </a:txBody>
                  <a:tcPr marL="57150" marR="57150" marT="50800" marB="50800" anchor="ctr"/>
                </a:tc>
                <a:tc>
                  <a:txBody>
                    <a:bodyPr/>
                    <a:lstStyle/>
                    <a:p>
                      <a:pPr marL="0" marR="0" indent="0" algn="ctr">
                        <a:lnSpc>
                          <a:spcPct val="135000"/>
                        </a:lnSpc>
                        <a:spcAft>
                          <a:spcPts val="500"/>
                        </a:spcAft>
                        <a:buNone/>
                      </a:pPr>
                      <a:r>
                        <a:rPr lang="en-US" altLang="zh-CN" sz="1200" dirty="0">
                          <a:effectLst/>
                          <a:latin typeface="宋体" panose="02010600030101010101" pitchFamily="2" charset="-122"/>
                          <a:ea typeface="宋体" panose="02010600030101010101" pitchFamily="2" charset="-122"/>
                          <a:cs typeface="Times New Roman" panose="02020603050405020304" pitchFamily="18" charset="0"/>
                        </a:rPr>
                        <a:t>39</a:t>
                      </a:r>
                      <a:endParaRPr lang="zh-CN" altLang="en-US" sz="1800" dirty="0">
                        <a:effectLst/>
                        <a:latin typeface="Noto Sans CJK SC"/>
                        <a:cs typeface="Times New Roman" panose="02020603050405020304" pitchFamily="18" charset="0"/>
                      </a:endParaRPr>
                    </a:p>
                  </a:txBody>
                  <a:tcPr marL="57150" marR="57150" marT="50800" marB="50800" anchor="ctr"/>
                </a:tc>
                <a:tc>
                  <a:txBody>
                    <a:bodyPr/>
                    <a:lstStyle/>
                    <a:p>
                      <a:pPr marL="0" marR="0" indent="0" algn="ctr">
                        <a:lnSpc>
                          <a:spcPct val="135000"/>
                        </a:lnSpc>
                        <a:spcAft>
                          <a:spcPts val="500"/>
                        </a:spcAft>
                        <a:buNone/>
                      </a:pPr>
                      <a:r>
                        <a:rPr lang="en-US" altLang="zh-CN" sz="1200" dirty="0">
                          <a:effectLst/>
                          <a:latin typeface="宋体" panose="02010600030101010101" pitchFamily="2" charset="-122"/>
                          <a:ea typeface="宋体" panose="02010600030101010101" pitchFamily="2" charset="-122"/>
                          <a:cs typeface="Times New Roman" panose="02020603050405020304" pitchFamily="18" charset="0"/>
                        </a:rPr>
                        <a:t>0</a:t>
                      </a:r>
                      <a:endParaRPr lang="zh-CN" altLang="en-US" sz="1800" dirty="0">
                        <a:effectLst/>
                        <a:latin typeface="Noto Sans CJK SC"/>
                        <a:cs typeface="Times New Roman" panose="02020603050405020304" pitchFamily="18" charset="0"/>
                      </a:endParaRPr>
                    </a:p>
                  </a:txBody>
                  <a:tcPr marL="57150" marR="57150" marT="50800" marB="50800" anchor="ctr"/>
                </a:tc>
                <a:tc>
                  <a:txBody>
                    <a:bodyPr/>
                    <a:lstStyle/>
                    <a:p>
                      <a:pPr marL="0" marR="0" indent="0" algn="ctr">
                        <a:lnSpc>
                          <a:spcPct val="135000"/>
                        </a:lnSpc>
                        <a:spcAft>
                          <a:spcPts val="500"/>
                        </a:spcAft>
                        <a:buNone/>
                      </a:pPr>
                      <a:r>
                        <a:rPr lang="en-US" altLang="zh-CN" sz="1200" dirty="0">
                          <a:effectLst/>
                          <a:latin typeface="宋体" panose="02010600030101010101" pitchFamily="2" charset="-122"/>
                          <a:ea typeface="宋体" panose="02010600030101010101" pitchFamily="2" charset="-122"/>
                          <a:cs typeface="Times New Roman" panose="02020603050405020304" pitchFamily="18" charset="0"/>
                        </a:rPr>
                        <a:t>2</a:t>
                      </a:r>
                      <a:endParaRPr lang="zh-CN" altLang="en-US" sz="1800" dirty="0">
                        <a:effectLst/>
                        <a:latin typeface="Noto Sans CJK SC"/>
                        <a:cs typeface="Times New Roman" panose="02020603050405020304" pitchFamily="18" charset="0"/>
                      </a:endParaRPr>
                    </a:p>
                  </a:txBody>
                  <a:tcPr marL="57150" marR="57150" marT="50800" marB="50800" anchor="ctr"/>
                </a:tc>
                <a:extLst>
                  <a:ext uri="{0D108BD9-81ED-4DB2-BD59-A6C34878D82A}">
                    <a16:rowId xmlns:a16="http://schemas.microsoft.com/office/drawing/2014/main" val="2837772804"/>
                  </a:ext>
                </a:extLst>
              </a:tr>
              <a:tr h="297806">
                <a:tc>
                  <a:txBody>
                    <a:bodyPr/>
                    <a:lstStyle/>
                    <a:p>
                      <a:pPr marL="0" marR="0" indent="0" algn="ctr">
                        <a:lnSpc>
                          <a:spcPct val="135000"/>
                        </a:lnSpc>
                        <a:spcAft>
                          <a:spcPts val="500"/>
                        </a:spcAft>
                        <a:buNone/>
                      </a:pPr>
                      <a:r>
                        <a:rPr lang="en-US" sz="1200">
                          <a:effectLst/>
                          <a:latin typeface="宋体" panose="02010600030101010101" pitchFamily="2" charset="-122"/>
                          <a:ea typeface="宋体" panose="02010600030101010101" pitchFamily="2" charset="-122"/>
                          <a:cs typeface="Times New Roman" panose="02020603050405020304" pitchFamily="18" charset="0"/>
                        </a:rPr>
                        <a:t>GPT 5.6-sol</a:t>
                      </a:r>
                      <a:endParaRPr lang="en-US" sz="1800">
                        <a:effectLst/>
                        <a:latin typeface="Noto Sans CJK SC"/>
                        <a:cs typeface="Times New Roman" panose="02020603050405020304" pitchFamily="18" charset="0"/>
                      </a:endParaRPr>
                    </a:p>
                  </a:txBody>
                  <a:tcPr marL="57150" marR="57150" marT="50800" marB="50800" anchor="ctr"/>
                </a:tc>
                <a:tc>
                  <a:txBody>
                    <a:bodyPr/>
                    <a:lstStyle/>
                    <a:p>
                      <a:pPr marL="0" marR="0" indent="0" algn="ctr">
                        <a:lnSpc>
                          <a:spcPct val="135000"/>
                        </a:lnSpc>
                        <a:spcAft>
                          <a:spcPts val="500"/>
                        </a:spcAft>
                        <a:buNone/>
                      </a:pPr>
                      <a:r>
                        <a:rPr lang="en-US" altLang="zh-CN" sz="1200">
                          <a:effectLst/>
                          <a:latin typeface="宋体" panose="02010600030101010101" pitchFamily="2" charset="-122"/>
                          <a:ea typeface="宋体" panose="02010600030101010101" pitchFamily="2" charset="-122"/>
                          <a:cs typeface="Times New Roman" panose="02020603050405020304" pitchFamily="18" charset="0"/>
                        </a:rPr>
                        <a:t>41</a:t>
                      </a:r>
                      <a:endParaRPr lang="zh-CN" altLang="en-US" sz="1800">
                        <a:effectLst/>
                        <a:latin typeface="Noto Sans CJK SC"/>
                        <a:cs typeface="Times New Roman" panose="02020603050405020304" pitchFamily="18" charset="0"/>
                      </a:endParaRPr>
                    </a:p>
                  </a:txBody>
                  <a:tcPr marL="57150" marR="57150" marT="50800" marB="50800" anchor="ctr"/>
                </a:tc>
                <a:tc>
                  <a:txBody>
                    <a:bodyPr/>
                    <a:lstStyle/>
                    <a:p>
                      <a:pPr marL="0" marR="0" indent="0" algn="ctr">
                        <a:lnSpc>
                          <a:spcPct val="135000"/>
                        </a:lnSpc>
                        <a:spcAft>
                          <a:spcPts val="500"/>
                        </a:spcAft>
                        <a:buNone/>
                      </a:pPr>
                      <a:r>
                        <a:rPr lang="en-US" altLang="zh-CN" sz="1200">
                          <a:effectLst/>
                          <a:latin typeface="宋体" panose="02010600030101010101" pitchFamily="2" charset="-122"/>
                          <a:ea typeface="宋体" panose="02010600030101010101" pitchFamily="2" charset="-122"/>
                          <a:cs typeface="Times New Roman" panose="02020603050405020304" pitchFamily="18" charset="0"/>
                        </a:rPr>
                        <a:t>12</a:t>
                      </a:r>
                      <a:endParaRPr lang="zh-CN" altLang="en-US" sz="1800">
                        <a:effectLst/>
                        <a:latin typeface="Noto Sans CJK SC"/>
                        <a:cs typeface="Times New Roman" panose="02020603050405020304" pitchFamily="18" charset="0"/>
                      </a:endParaRPr>
                    </a:p>
                  </a:txBody>
                  <a:tcPr marL="57150" marR="57150" marT="50800" marB="50800" anchor="ctr"/>
                </a:tc>
                <a:tc>
                  <a:txBody>
                    <a:bodyPr/>
                    <a:lstStyle/>
                    <a:p>
                      <a:pPr marL="0" marR="0" indent="0" algn="ctr">
                        <a:lnSpc>
                          <a:spcPct val="135000"/>
                        </a:lnSpc>
                        <a:spcAft>
                          <a:spcPts val="500"/>
                        </a:spcAft>
                        <a:buNone/>
                      </a:pPr>
                      <a:r>
                        <a:rPr lang="en-US" altLang="zh-CN" sz="1200" dirty="0">
                          <a:effectLst/>
                          <a:latin typeface="宋体" panose="02010600030101010101" pitchFamily="2" charset="-122"/>
                          <a:ea typeface="宋体" panose="02010600030101010101" pitchFamily="2" charset="-122"/>
                          <a:cs typeface="Times New Roman" panose="02020603050405020304" pitchFamily="18" charset="0"/>
                        </a:rPr>
                        <a:t>0</a:t>
                      </a:r>
                      <a:endParaRPr lang="zh-CN" altLang="en-US" sz="1800" dirty="0">
                        <a:effectLst/>
                        <a:latin typeface="Noto Sans CJK SC"/>
                        <a:cs typeface="Times New Roman" panose="02020603050405020304" pitchFamily="18" charset="0"/>
                      </a:endParaRPr>
                    </a:p>
                  </a:txBody>
                  <a:tcPr marL="57150" marR="57150" marT="50800" marB="50800" anchor="ctr"/>
                </a:tc>
                <a:tc>
                  <a:txBody>
                    <a:bodyPr/>
                    <a:lstStyle/>
                    <a:p>
                      <a:pPr marL="0" marR="0" indent="0" algn="ctr">
                        <a:lnSpc>
                          <a:spcPct val="135000"/>
                        </a:lnSpc>
                        <a:spcAft>
                          <a:spcPts val="500"/>
                        </a:spcAft>
                        <a:buNone/>
                      </a:pPr>
                      <a:r>
                        <a:rPr lang="en-US" altLang="zh-CN" sz="1200" dirty="0">
                          <a:effectLst/>
                          <a:latin typeface="宋体" panose="02010600030101010101" pitchFamily="2" charset="-122"/>
                          <a:ea typeface="宋体" panose="02010600030101010101" pitchFamily="2" charset="-122"/>
                          <a:cs typeface="Times New Roman" panose="02020603050405020304" pitchFamily="18" charset="0"/>
                        </a:rPr>
                        <a:t>29</a:t>
                      </a:r>
                      <a:endParaRPr lang="zh-CN" altLang="en-US" sz="1800" dirty="0">
                        <a:effectLst/>
                        <a:latin typeface="Noto Sans CJK SC"/>
                        <a:cs typeface="Times New Roman" panose="02020603050405020304" pitchFamily="18" charset="0"/>
                      </a:endParaRPr>
                    </a:p>
                  </a:txBody>
                  <a:tcPr marL="57150" marR="57150" marT="50800" marB="50800" anchor="ctr"/>
                </a:tc>
                <a:extLst>
                  <a:ext uri="{0D108BD9-81ED-4DB2-BD59-A6C34878D82A}">
                    <a16:rowId xmlns:a16="http://schemas.microsoft.com/office/drawing/2014/main" val="759429723"/>
                  </a:ext>
                </a:extLst>
              </a:tr>
              <a:tr h="297806">
                <a:tc>
                  <a:txBody>
                    <a:bodyPr/>
                    <a:lstStyle/>
                    <a:p>
                      <a:pPr marL="0" marR="0" indent="0" algn="ctr">
                        <a:lnSpc>
                          <a:spcPct val="135000"/>
                        </a:lnSpc>
                        <a:spcAft>
                          <a:spcPts val="500"/>
                        </a:spcAft>
                        <a:buNone/>
                      </a:pPr>
                      <a:r>
                        <a:rPr lang="en-US" sz="1200">
                          <a:effectLst/>
                          <a:latin typeface="宋体" panose="02010600030101010101" pitchFamily="2" charset="-122"/>
                          <a:ea typeface="宋体" panose="02010600030101010101" pitchFamily="2" charset="-122"/>
                          <a:cs typeface="Times New Roman" panose="02020603050405020304" pitchFamily="18" charset="0"/>
                        </a:rPr>
                        <a:t>Grok 4.5</a:t>
                      </a:r>
                      <a:endParaRPr lang="en-US" sz="1800">
                        <a:effectLst/>
                        <a:latin typeface="Noto Sans CJK SC"/>
                        <a:cs typeface="Times New Roman" panose="02020603050405020304" pitchFamily="18" charset="0"/>
                      </a:endParaRPr>
                    </a:p>
                  </a:txBody>
                  <a:tcPr marL="57150" marR="57150" marT="50800" marB="50800" anchor="ctr"/>
                </a:tc>
                <a:tc>
                  <a:txBody>
                    <a:bodyPr/>
                    <a:lstStyle/>
                    <a:p>
                      <a:pPr marL="0" marR="0" indent="0" algn="ctr">
                        <a:lnSpc>
                          <a:spcPct val="135000"/>
                        </a:lnSpc>
                        <a:spcAft>
                          <a:spcPts val="500"/>
                        </a:spcAft>
                        <a:buNone/>
                      </a:pPr>
                      <a:r>
                        <a:rPr lang="en-US" altLang="zh-CN" sz="1200">
                          <a:effectLst/>
                          <a:latin typeface="宋体" panose="02010600030101010101" pitchFamily="2" charset="-122"/>
                          <a:ea typeface="宋体" panose="02010600030101010101" pitchFamily="2" charset="-122"/>
                          <a:cs typeface="Times New Roman" panose="02020603050405020304" pitchFamily="18" charset="0"/>
                        </a:rPr>
                        <a:t>41</a:t>
                      </a:r>
                      <a:endParaRPr lang="zh-CN" altLang="en-US" sz="1800">
                        <a:effectLst/>
                        <a:latin typeface="Noto Sans CJK SC"/>
                        <a:cs typeface="Times New Roman" panose="02020603050405020304" pitchFamily="18" charset="0"/>
                      </a:endParaRPr>
                    </a:p>
                  </a:txBody>
                  <a:tcPr marL="57150" marR="57150" marT="50800" marB="50800" anchor="ctr"/>
                </a:tc>
                <a:tc>
                  <a:txBody>
                    <a:bodyPr/>
                    <a:lstStyle/>
                    <a:p>
                      <a:pPr marL="0" marR="0" indent="0" algn="ctr">
                        <a:lnSpc>
                          <a:spcPct val="135000"/>
                        </a:lnSpc>
                        <a:spcAft>
                          <a:spcPts val="500"/>
                        </a:spcAft>
                        <a:buNone/>
                      </a:pPr>
                      <a:r>
                        <a:rPr lang="en-US" altLang="zh-CN" sz="1200">
                          <a:effectLst/>
                          <a:latin typeface="宋体" panose="02010600030101010101" pitchFamily="2" charset="-122"/>
                          <a:ea typeface="宋体" panose="02010600030101010101" pitchFamily="2" charset="-122"/>
                          <a:cs typeface="Times New Roman" panose="02020603050405020304" pitchFamily="18" charset="0"/>
                        </a:rPr>
                        <a:t>0</a:t>
                      </a:r>
                      <a:endParaRPr lang="zh-CN" altLang="en-US" sz="1800">
                        <a:effectLst/>
                        <a:latin typeface="Noto Sans CJK SC"/>
                        <a:cs typeface="Times New Roman" panose="02020603050405020304" pitchFamily="18" charset="0"/>
                      </a:endParaRPr>
                    </a:p>
                  </a:txBody>
                  <a:tcPr marL="57150" marR="57150" marT="50800" marB="50800" anchor="ctr"/>
                </a:tc>
                <a:tc>
                  <a:txBody>
                    <a:bodyPr/>
                    <a:lstStyle/>
                    <a:p>
                      <a:pPr marL="0" marR="0" indent="0" algn="ctr">
                        <a:lnSpc>
                          <a:spcPct val="135000"/>
                        </a:lnSpc>
                        <a:spcAft>
                          <a:spcPts val="500"/>
                        </a:spcAft>
                        <a:buNone/>
                      </a:pPr>
                      <a:r>
                        <a:rPr lang="en-US" altLang="zh-CN" sz="1200">
                          <a:effectLst/>
                          <a:latin typeface="宋体" panose="02010600030101010101" pitchFamily="2" charset="-122"/>
                          <a:ea typeface="宋体" panose="02010600030101010101" pitchFamily="2" charset="-122"/>
                          <a:cs typeface="Times New Roman" panose="02020603050405020304" pitchFamily="18" charset="0"/>
                        </a:rPr>
                        <a:t>41</a:t>
                      </a:r>
                      <a:endParaRPr lang="zh-CN" altLang="en-US" sz="1800">
                        <a:effectLst/>
                        <a:latin typeface="Noto Sans CJK SC"/>
                        <a:cs typeface="Times New Roman" panose="02020603050405020304" pitchFamily="18" charset="0"/>
                      </a:endParaRPr>
                    </a:p>
                  </a:txBody>
                  <a:tcPr marL="57150" marR="57150" marT="50800" marB="50800" anchor="ctr"/>
                </a:tc>
                <a:tc>
                  <a:txBody>
                    <a:bodyPr/>
                    <a:lstStyle/>
                    <a:p>
                      <a:pPr marL="0" marR="0" indent="0" algn="ctr">
                        <a:lnSpc>
                          <a:spcPct val="135000"/>
                        </a:lnSpc>
                        <a:spcAft>
                          <a:spcPts val="500"/>
                        </a:spcAft>
                        <a:buNone/>
                      </a:pPr>
                      <a:r>
                        <a:rPr lang="en-US" altLang="zh-CN" sz="1200" dirty="0">
                          <a:effectLst/>
                          <a:latin typeface="宋体" panose="02010600030101010101" pitchFamily="2" charset="-122"/>
                          <a:ea typeface="宋体" panose="02010600030101010101" pitchFamily="2" charset="-122"/>
                          <a:cs typeface="Times New Roman" panose="02020603050405020304" pitchFamily="18" charset="0"/>
                        </a:rPr>
                        <a:t>0</a:t>
                      </a:r>
                      <a:endParaRPr lang="zh-CN" altLang="en-US" sz="1800" dirty="0">
                        <a:effectLst/>
                        <a:latin typeface="Noto Sans CJK SC"/>
                        <a:cs typeface="Times New Roman" panose="02020603050405020304" pitchFamily="18" charset="0"/>
                      </a:endParaRPr>
                    </a:p>
                  </a:txBody>
                  <a:tcPr marL="57150" marR="57150" marT="50800" marB="50800" anchor="ctr"/>
                </a:tc>
                <a:extLst>
                  <a:ext uri="{0D108BD9-81ED-4DB2-BD59-A6C34878D82A}">
                    <a16:rowId xmlns:a16="http://schemas.microsoft.com/office/drawing/2014/main" val="2283386510"/>
                  </a:ext>
                </a:extLst>
              </a:tr>
              <a:tr h="297806">
                <a:tc>
                  <a:txBody>
                    <a:bodyPr/>
                    <a:lstStyle/>
                    <a:p>
                      <a:pPr marL="0" marR="0" indent="0" algn="ctr">
                        <a:lnSpc>
                          <a:spcPct val="135000"/>
                        </a:lnSpc>
                        <a:spcAft>
                          <a:spcPts val="500"/>
                        </a:spcAft>
                        <a:buNone/>
                      </a:pPr>
                      <a:r>
                        <a:rPr lang="en-US" sz="1200">
                          <a:effectLst/>
                          <a:latin typeface="宋体" panose="02010600030101010101" pitchFamily="2" charset="-122"/>
                          <a:ea typeface="宋体" panose="02010600030101010101" pitchFamily="2" charset="-122"/>
                          <a:cs typeface="Times New Roman" panose="02020603050405020304" pitchFamily="18" charset="0"/>
                        </a:rPr>
                        <a:t>Gemini 3.1</a:t>
                      </a:r>
                      <a:endParaRPr lang="en-US" sz="1800">
                        <a:effectLst/>
                        <a:latin typeface="Noto Sans CJK SC"/>
                        <a:cs typeface="Times New Roman" panose="02020603050405020304" pitchFamily="18" charset="0"/>
                      </a:endParaRPr>
                    </a:p>
                  </a:txBody>
                  <a:tcPr marL="57150" marR="57150" marT="50800" marB="50800" anchor="ctr"/>
                </a:tc>
                <a:tc>
                  <a:txBody>
                    <a:bodyPr/>
                    <a:lstStyle/>
                    <a:p>
                      <a:pPr marL="0" marR="0" indent="0" algn="ctr">
                        <a:lnSpc>
                          <a:spcPct val="135000"/>
                        </a:lnSpc>
                        <a:spcAft>
                          <a:spcPts val="500"/>
                        </a:spcAft>
                        <a:buNone/>
                      </a:pPr>
                      <a:r>
                        <a:rPr lang="en-US" altLang="zh-CN" sz="1200">
                          <a:effectLst/>
                          <a:latin typeface="宋体" panose="02010600030101010101" pitchFamily="2" charset="-122"/>
                          <a:ea typeface="宋体" panose="02010600030101010101" pitchFamily="2" charset="-122"/>
                          <a:cs typeface="Times New Roman" panose="02020603050405020304" pitchFamily="18" charset="0"/>
                        </a:rPr>
                        <a:t>41</a:t>
                      </a:r>
                      <a:endParaRPr lang="zh-CN" altLang="en-US" sz="1800">
                        <a:effectLst/>
                        <a:latin typeface="Noto Sans CJK SC"/>
                        <a:cs typeface="Times New Roman" panose="02020603050405020304" pitchFamily="18" charset="0"/>
                      </a:endParaRPr>
                    </a:p>
                  </a:txBody>
                  <a:tcPr marL="57150" marR="57150" marT="50800" marB="50800" anchor="ctr"/>
                </a:tc>
                <a:tc>
                  <a:txBody>
                    <a:bodyPr/>
                    <a:lstStyle/>
                    <a:p>
                      <a:pPr marL="0" marR="0" indent="0" algn="ctr">
                        <a:lnSpc>
                          <a:spcPct val="135000"/>
                        </a:lnSpc>
                        <a:spcAft>
                          <a:spcPts val="500"/>
                        </a:spcAft>
                        <a:buNone/>
                      </a:pPr>
                      <a:r>
                        <a:rPr lang="en-US" altLang="zh-CN" sz="1200">
                          <a:effectLst/>
                          <a:latin typeface="宋体" panose="02010600030101010101" pitchFamily="2" charset="-122"/>
                          <a:ea typeface="宋体" panose="02010600030101010101" pitchFamily="2" charset="-122"/>
                          <a:cs typeface="Times New Roman" panose="02020603050405020304" pitchFamily="18" charset="0"/>
                        </a:rPr>
                        <a:t>0</a:t>
                      </a:r>
                      <a:endParaRPr lang="zh-CN" altLang="en-US" sz="1800">
                        <a:effectLst/>
                        <a:latin typeface="Noto Sans CJK SC"/>
                        <a:cs typeface="Times New Roman" panose="02020603050405020304" pitchFamily="18" charset="0"/>
                      </a:endParaRPr>
                    </a:p>
                  </a:txBody>
                  <a:tcPr marL="57150" marR="57150" marT="50800" marB="50800" anchor="ctr"/>
                </a:tc>
                <a:tc>
                  <a:txBody>
                    <a:bodyPr/>
                    <a:lstStyle/>
                    <a:p>
                      <a:pPr marL="0" marR="0" indent="0" algn="ctr">
                        <a:lnSpc>
                          <a:spcPct val="135000"/>
                        </a:lnSpc>
                        <a:spcAft>
                          <a:spcPts val="500"/>
                        </a:spcAft>
                        <a:buNone/>
                      </a:pPr>
                      <a:r>
                        <a:rPr lang="en-US" altLang="zh-CN" sz="1200">
                          <a:effectLst/>
                          <a:latin typeface="宋体" panose="02010600030101010101" pitchFamily="2" charset="-122"/>
                          <a:ea typeface="宋体" panose="02010600030101010101" pitchFamily="2" charset="-122"/>
                          <a:cs typeface="Times New Roman" panose="02020603050405020304" pitchFamily="18" charset="0"/>
                        </a:rPr>
                        <a:t>30</a:t>
                      </a:r>
                      <a:endParaRPr lang="zh-CN" altLang="en-US" sz="1800">
                        <a:effectLst/>
                        <a:latin typeface="Noto Sans CJK SC"/>
                        <a:cs typeface="Times New Roman" panose="02020603050405020304" pitchFamily="18" charset="0"/>
                      </a:endParaRPr>
                    </a:p>
                  </a:txBody>
                  <a:tcPr marL="57150" marR="57150" marT="50800" marB="50800" anchor="ctr"/>
                </a:tc>
                <a:tc>
                  <a:txBody>
                    <a:bodyPr/>
                    <a:lstStyle/>
                    <a:p>
                      <a:pPr marL="0" marR="0" indent="0" algn="ctr">
                        <a:lnSpc>
                          <a:spcPct val="135000"/>
                        </a:lnSpc>
                        <a:spcAft>
                          <a:spcPts val="500"/>
                        </a:spcAft>
                        <a:buNone/>
                      </a:pPr>
                      <a:r>
                        <a:rPr lang="en-US" altLang="zh-CN" sz="1200" dirty="0">
                          <a:effectLst/>
                          <a:latin typeface="宋体" panose="02010600030101010101" pitchFamily="2" charset="-122"/>
                          <a:ea typeface="宋体" panose="02010600030101010101" pitchFamily="2" charset="-122"/>
                          <a:cs typeface="Times New Roman" panose="02020603050405020304" pitchFamily="18" charset="0"/>
                        </a:rPr>
                        <a:t>11</a:t>
                      </a:r>
                      <a:endParaRPr lang="zh-CN" altLang="en-US" sz="1800" dirty="0">
                        <a:effectLst/>
                        <a:latin typeface="Noto Sans CJK SC"/>
                        <a:cs typeface="Times New Roman" panose="02020603050405020304" pitchFamily="18" charset="0"/>
                      </a:endParaRPr>
                    </a:p>
                  </a:txBody>
                  <a:tcPr marL="57150" marR="57150" marT="50800" marB="50800" anchor="ctr"/>
                </a:tc>
                <a:extLst>
                  <a:ext uri="{0D108BD9-81ED-4DB2-BD59-A6C34878D82A}">
                    <a16:rowId xmlns:a16="http://schemas.microsoft.com/office/drawing/2014/main" val="2746716459"/>
                  </a:ext>
                </a:extLst>
              </a:tr>
            </a:tbl>
          </a:graphicData>
        </a:graphic>
      </p:graphicFrame>
      <p:pic>
        <p:nvPicPr>
          <p:cNvPr id="12" name="图片 11">
            <a:extLst>
              <a:ext uri="{FF2B5EF4-FFF2-40B4-BE49-F238E27FC236}">
                <a16:creationId xmlns:a16="http://schemas.microsoft.com/office/drawing/2014/main" id="{66A95117-BAAF-CFF0-99EE-C62019A04627}"/>
              </a:ext>
            </a:extLst>
          </p:cNvPr>
          <p:cNvPicPr>
            <a:picLocks noChangeAspect="1"/>
          </p:cNvPicPr>
          <p:nvPr/>
        </p:nvPicPr>
        <p:blipFill>
          <a:blip r:embed="rId4"/>
          <a:stretch>
            <a:fillRect/>
          </a:stretch>
        </p:blipFill>
        <p:spPr>
          <a:xfrm>
            <a:off x="4944862" y="3677078"/>
            <a:ext cx="3279378" cy="2180327"/>
          </a:xfrm>
          <a:prstGeom prst="rect">
            <a:avLst/>
          </a:prstGeom>
        </p:spPr>
      </p:pic>
      <p:sp>
        <p:nvSpPr>
          <p:cNvPr id="13" name="文本框 12">
            <a:extLst>
              <a:ext uri="{FF2B5EF4-FFF2-40B4-BE49-F238E27FC236}">
                <a16:creationId xmlns:a16="http://schemas.microsoft.com/office/drawing/2014/main" id="{FCD2D7F7-B318-9FDD-4522-6AF13857B36A}"/>
              </a:ext>
            </a:extLst>
          </p:cNvPr>
          <p:cNvSpPr txBox="1"/>
          <p:nvPr/>
        </p:nvSpPr>
        <p:spPr>
          <a:xfrm>
            <a:off x="5420510" y="5937956"/>
            <a:ext cx="2282548" cy="307777"/>
          </a:xfrm>
          <a:prstGeom prst="rect">
            <a:avLst/>
          </a:prstGeom>
          <a:noFill/>
        </p:spPr>
        <p:txBody>
          <a:bodyPr wrap="square" rtlCol="0">
            <a:spAutoFit/>
          </a:bodyPr>
          <a:lstStyle/>
          <a:p>
            <a:r>
              <a:rPr lang="en-US" altLang="zh-CN" sz="1400" dirty="0"/>
              <a:t>Claude</a:t>
            </a:r>
            <a:r>
              <a:rPr lang="zh-CN" altLang="en-US" sz="1400" dirty="0"/>
              <a:t>触发强阻断</a:t>
            </a:r>
          </a:p>
        </p:txBody>
      </p:sp>
    </p:spTree>
    <p:extLst>
      <p:ext uri="{BB962C8B-B14F-4D97-AF65-F5344CB8AC3E}">
        <p14:creationId xmlns:p14="http://schemas.microsoft.com/office/powerpoint/2010/main" val="11011688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8735" y="233805"/>
            <a:ext cx="10515600" cy="613434"/>
          </a:xfrm>
        </p:spPr>
        <p:txBody>
          <a:bodyPr/>
          <a:lstStyle/>
          <a:p>
            <a:r>
              <a:rPr lang="zh-CN" altLang="en-US" dirty="0"/>
              <a:t>内容护栏触发</a:t>
            </a:r>
          </a:p>
        </p:txBody>
      </p:sp>
      <p:pic>
        <p:nvPicPr>
          <p:cNvPr id="6" name="图片 5">
            <a:extLst>
              <a:ext uri="{FF2B5EF4-FFF2-40B4-BE49-F238E27FC236}">
                <a16:creationId xmlns:a16="http://schemas.microsoft.com/office/drawing/2014/main" id="{7925DD03-1F44-2837-939B-7CFCBD95B190}"/>
              </a:ext>
            </a:extLst>
          </p:cNvPr>
          <p:cNvPicPr>
            <a:picLocks/>
          </p:cNvPicPr>
          <p:nvPr/>
        </p:nvPicPr>
        <p:blipFill>
          <a:blip r:embed="rId3">
            <a:extLst>
              <a:ext uri="{28A0092B-C50C-407E-A947-70E740481C1C}">
                <a14:useLocalDpi xmlns:a14="http://schemas.microsoft.com/office/drawing/2010/main" val="0"/>
              </a:ext>
            </a:extLst>
          </a:blip>
          <a:srcRect t="11247"/>
          <a:stretch>
            <a:fillRect/>
          </a:stretch>
        </p:blipFill>
        <p:spPr>
          <a:xfrm>
            <a:off x="232312" y="1031921"/>
            <a:ext cx="11382023" cy="5691052"/>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蜜罐欺骗</a:t>
            </a:r>
          </a:p>
        </p:txBody>
      </p:sp>
      <p:sp>
        <p:nvSpPr>
          <p:cNvPr id="4" name="文本框 3"/>
          <p:cNvSpPr/>
          <p:nvPr/>
        </p:nvSpPr>
        <p:spPr>
          <a:xfrm>
            <a:off x="221941" y="1075924"/>
            <a:ext cx="11842812" cy="954107"/>
          </a:xfrm>
          <a:prstGeom prst="rect">
            <a:avLst/>
          </a:prstGeom>
          <a:noFill/>
        </p:spPr>
        <p:txBody>
          <a:bodyPr wrap="square">
            <a:spAutoFit/>
          </a:bodyPr>
          <a:lstStyle/>
          <a:p>
            <a:r>
              <a:rPr lang="zh-CN" altLang="en-US" b="1" dirty="0"/>
              <a:t>大模型本质是输出正确概率最高的答案，因此可以针对大模型的该特征，通过修改一些已有标准的工作，如一些标准算法，对其进行微调，模型在分析的时候就会想当然的认为他是标准算法而不去分析其具体的实现是否准确，从而达到欺骗</a:t>
            </a:r>
            <a:r>
              <a:rPr lang="en-US" altLang="zh-CN" b="1" dirty="0"/>
              <a:t>agent</a:t>
            </a:r>
            <a:r>
              <a:rPr lang="zh-CN" altLang="en-US" b="1" dirty="0"/>
              <a:t>的目的，本质是利用模型的特性，让模型通过分析高效的得到错误的结论。</a:t>
            </a:r>
          </a:p>
        </p:txBody>
      </p:sp>
      <p:sp>
        <p:nvSpPr>
          <p:cNvPr id="9" name="文本框 8"/>
          <p:cNvSpPr/>
          <p:nvPr/>
        </p:nvSpPr>
        <p:spPr>
          <a:xfrm>
            <a:off x="127247" y="5977864"/>
            <a:ext cx="11308397" cy="646331"/>
          </a:xfrm>
          <a:prstGeom prst="rect">
            <a:avLst/>
          </a:prstGeom>
          <a:noFill/>
        </p:spPr>
        <p:txBody>
          <a:bodyPr wrap="square" rtlCol="0">
            <a:spAutoFit/>
          </a:bodyPr>
          <a:lstStyle/>
          <a:p>
            <a:pPr marL="285750" indent="-285750">
              <a:buFont typeface="Wingdings"/>
              <a:buChar char="l"/>
            </a:pPr>
            <a:r>
              <a:rPr lang="zh-CN" altLang="en-US" dirty="0"/>
              <a:t>蜜罐成败由</a:t>
            </a:r>
            <a:r>
              <a:rPr lang="en-US" altLang="zh-CN" dirty="0"/>
              <a:t>“</a:t>
            </a:r>
            <a:r>
              <a:rPr lang="zh-CN" altLang="en-US" dirty="0"/>
              <a:t>分析者注意力是否落到不透明谓词决定过滤的那段逻辑</a:t>
            </a:r>
            <a:r>
              <a:rPr lang="en-US" altLang="zh-CN" dirty="0"/>
              <a:t>”</a:t>
            </a:r>
            <a:r>
              <a:rPr lang="zh-CN" altLang="en-US" dirty="0"/>
              <a:t>决定，其次才是模型档位。</a:t>
            </a:r>
            <a:endParaRPr lang="en-US" altLang="zh-CN" dirty="0"/>
          </a:p>
          <a:p>
            <a:pPr marL="285750" indent="-285750">
              <a:buFont typeface="Wingdings"/>
              <a:buChar char="l"/>
            </a:pPr>
            <a:r>
              <a:rPr lang="zh-CN" altLang="en-US" dirty="0"/>
              <a:t>在大型代码项目中进行微小的扰动更容易欺骗到大模型。</a:t>
            </a:r>
            <a:endParaRPr lang="en-US" altLang="zh-CN" dirty="0"/>
          </a:p>
        </p:txBody>
      </p:sp>
      <p:sp>
        <p:nvSpPr>
          <p:cNvPr id="11" name="文本框 10"/>
          <p:cNvSpPr/>
          <p:nvPr/>
        </p:nvSpPr>
        <p:spPr>
          <a:xfrm>
            <a:off x="127247" y="2030030"/>
            <a:ext cx="5313997" cy="1754326"/>
          </a:xfrm>
          <a:prstGeom prst="rect">
            <a:avLst/>
          </a:prstGeom>
          <a:noFill/>
        </p:spPr>
        <p:txBody>
          <a:bodyPr wrap="square">
            <a:spAutoFit/>
          </a:bodyPr>
          <a:lstStyle/>
          <a:p>
            <a:pPr marL="285750" indent="-285750">
              <a:buFont typeface="Wingdings"/>
              <a:buChar char="l"/>
            </a:pPr>
            <a:r>
              <a:rPr lang="zh-CN" altLang="en-US" b="1" dirty="0"/>
              <a:t>构建逻辑蜜罐</a:t>
            </a:r>
            <a:endParaRPr lang="en-US" altLang="zh-CN" b="1" dirty="0"/>
          </a:p>
          <a:p>
            <a:pPr marL="742950" lvl="1" indent="-285750">
              <a:buFont typeface="Wingdings"/>
              <a:buChar char="l"/>
            </a:pPr>
            <a:r>
              <a:rPr lang="zh-CN" altLang="en-US" dirty="0"/>
              <a:t>大模型会更倾向于走自己熟悉的道路，尽量的去走已有知识库中正确率最高的路径。</a:t>
            </a:r>
            <a:endParaRPr lang="en-US" altLang="zh-CN" dirty="0"/>
          </a:p>
          <a:p>
            <a:pPr marL="742950" lvl="1" indent="-285750">
              <a:buFont typeface="Wingdings"/>
              <a:buChar char="l"/>
            </a:pPr>
            <a:r>
              <a:rPr lang="zh-CN" altLang="en-US" dirty="0"/>
              <a:t>通过精心构建的与原业务逻辑相似的逻辑链，并更可信，干扰</a:t>
            </a:r>
            <a:r>
              <a:rPr lang="en-US" altLang="zh-CN" dirty="0"/>
              <a:t>agent</a:t>
            </a:r>
            <a:r>
              <a:rPr lang="zh-CN" altLang="en-US" dirty="0"/>
              <a:t>分析真实的业务逻辑，并误导</a:t>
            </a:r>
            <a:r>
              <a:rPr lang="en-US" altLang="zh-CN" dirty="0"/>
              <a:t>agent</a:t>
            </a:r>
            <a:r>
              <a:rPr lang="zh-CN" altLang="en-US" dirty="0"/>
              <a:t>去分析得到错误的结论。</a:t>
            </a:r>
          </a:p>
        </p:txBody>
      </p:sp>
      <p:pic>
        <p:nvPicPr>
          <p:cNvPr id="3" name="图片 2">
            <a:extLst>
              <a:ext uri="{FF2B5EF4-FFF2-40B4-BE49-F238E27FC236}">
                <a16:creationId xmlns:a16="http://schemas.microsoft.com/office/drawing/2014/main" id="{F336535E-A5DC-F86D-1BE3-43D7DD7BDCB7}"/>
              </a:ext>
            </a:extLst>
          </p:cNvPr>
          <p:cNvPicPr>
            <a:picLocks/>
          </p:cNvPicPr>
          <p:nvPr/>
        </p:nvPicPr>
        <p:blipFill>
          <a:blip r:embed="rId3"/>
          <a:srcRect t="11757"/>
          <a:stretch>
            <a:fillRect/>
          </a:stretch>
        </p:blipFill>
        <p:spPr>
          <a:xfrm>
            <a:off x="5405521" y="2030028"/>
            <a:ext cx="6564537" cy="3309615"/>
          </a:xfrm>
          <a:prstGeom prst="rect">
            <a:avLst/>
          </a:prstGeom>
        </p:spPr>
      </p:pic>
      <p:pic>
        <p:nvPicPr>
          <p:cNvPr id="7" name="图片 6">
            <a:extLst>
              <a:ext uri="{FF2B5EF4-FFF2-40B4-BE49-F238E27FC236}">
                <a16:creationId xmlns:a16="http://schemas.microsoft.com/office/drawing/2014/main" id="{5CA0ECEB-0D81-E575-996E-041A9FC4C25D}"/>
              </a:ext>
            </a:extLst>
          </p:cNvPr>
          <p:cNvPicPr>
            <a:picLocks noChangeAspect="1"/>
          </p:cNvPicPr>
          <p:nvPr/>
        </p:nvPicPr>
        <p:blipFill>
          <a:blip r:embed="rId4"/>
          <a:stretch>
            <a:fillRect/>
          </a:stretch>
        </p:blipFill>
        <p:spPr>
          <a:xfrm>
            <a:off x="708728" y="3765975"/>
            <a:ext cx="4115312" cy="1573668"/>
          </a:xfrm>
          <a:prstGeom prst="rect">
            <a:avLst/>
          </a:prstGeom>
        </p:spPr>
      </p:pic>
      <p:sp>
        <p:nvSpPr>
          <p:cNvPr id="10" name="文本框 9">
            <a:extLst>
              <a:ext uri="{FF2B5EF4-FFF2-40B4-BE49-F238E27FC236}">
                <a16:creationId xmlns:a16="http://schemas.microsoft.com/office/drawing/2014/main" id="{D718D3B5-7A94-FD0F-8AFF-75B693E1C95B}"/>
              </a:ext>
            </a:extLst>
          </p:cNvPr>
          <p:cNvSpPr txBox="1"/>
          <p:nvPr/>
        </p:nvSpPr>
        <p:spPr>
          <a:xfrm>
            <a:off x="1018798" y="5335634"/>
            <a:ext cx="3589866" cy="369332"/>
          </a:xfrm>
          <a:prstGeom prst="rect">
            <a:avLst/>
          </a:prstGeom>
          <a:noFill/>
        </p:spPr>
        <p:txBody>
          <a:bodyPr wrap="square" rtlCol="0">
            <a:spAutoFit/>
          </a:bodyPr>
          <a:lstStyle/>
          <a:p>
            <a:r>
              <a:rPr lang="zh-CN" altLang="en-US" dirty="0"/>
              <a:t>熟悉模式细微扰动欺骗到</a:t>
            </a:r>
            <a:r>
              <a:rPr lang="en-US" altLang="zh-CN" dirty="0" err="1"/>
              <a:t>claude</a:t>
            </a:r>
            <a:endParaRPr lang="zh-CN" altLang="en-US" dirty="0"/>
          </a:p>
        </p:txBody>
      </p:sp>
      <p:pic>
        <p:nvPicPr>
          <p:cNvPr id="13" name="图片 12">
            <a:extLst>
              <a:ext uri="{FF2B5EF4-FFF2-40B4-BE49-F238E27FC236}">
                <a16:creationId xmlns:a16="http://schemas.microsoft.com/office/drawing/2014/main" id="{8FE9843F-1A78-516F-CD30-5DB43EC2448A}"/>
              </a:ext>
            </a:extLst>
          </p:cNvPr>
          <p:cNvPicPr>
            <a:picLocks noChangeAspect="1"/>
          </p:cNvPicPr>
          <p:nvPr/>
        </p:nvPicPr>
        <p:blipFill>
          <a:blip r:embed="rId5"/>
          <a:stretch>
            <a:fillRect/>
          </a:stretch>
        </p:blipFill>
        <p:spPr>
          <a:xfrm>
            <a:off x="5928200" y="5389051"/>
            <a:ext cx="5146199" cy="631829"/>
          </a:xfrm>
          <a:prstGeom prst="rect">
            <a:avLst/>
          </a:prstGeom>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75883-E387-ED2E-C513-83891DA659F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021E138-7BD4-2940-A979-B2908A4FD39B}"/>
              </a:ext>
            </a:extLst>
          </p:cNvPr>
          <p:cNvSpPr>
            <a:spLocks noGrp="1"/>
          </p:cNvSpPr>
          <p:nvPr>
            <p:ph type="title"/>
          </p:nvPr>
        </p:nvSpPr>
        <p:spPr>
          <a:xfrm>
            <a:off x="1098735" y="233805"/>
            <a:ext cx="10515600" cy="613434"/>
          </a:xfrm>
        </p:spPr>
        <p:txBody>
          <a:bodyPr/>
          <a:lstStyle/>
          <a:p>
            <a:r>
              <a:rPr lang="zh-CN" altLang="en-US" dirty="0"/>
              <a:t>计算过载（</a:t>
            </a:r>
            <a:r>
              <a:rPr lang="en-US" altLang="zh-CN"/>
              <a:t>agent Dos</a:t>
            </a:r>
            <a:r>
              <a:rPr lang="zh-CN" altLang="en-US"/>
              <a:t>）</a:t>
            </a:r>
            <a:endParaRPr lang="zh-CN" altLang="en-US" dirty="0"/>
          </a:p>
        </p:txBody>
      </p:sp>
      <p:sp>
        <p:nvSpPr>
          <p:cNvPr id="4" name="文本框 3">
            <a:extLst>
              <a:ext uri="{FF2B5EF4-FFF2-40B4-BE49-F238E27FC236}">
                <a16:creationId xmlns:a16="http://schemas.microsoft.com/office/drawing/2014/main" id="{8362DD6E-3DFB-F543-EB96-D6B1DD4ABB0B}"/>
              </a:ext>
            </a:extLst>
          </p:cNvPr>
          <p:cNvSpPr txBox="1"/>
          <p:nvPr/>
        </p:nvSpPr>
        <p:spPr>
          <a:xfrm>
            <a:off x="-293511" y="1152857"/>
            <a:ext cx="12101689" cy="400110"/>
          </a:xfrm>
          <a:prstGeom prst="rect">
            <a:avLst/>
          </a:prstGeom>
          <a:noFill/>
        </p:spPr>
        <p:txBody>
          <a:bodyPr wrap="square">
            <a:spAutoFit/>
          </a:bodyPr>
          <a:lstStyle/>
          <a:p>
            <a:pPr marL="800100" marR="0" lvl="1" indent="-342900" algn="just" defTabSz="914400" rtl="0">
              <a:lnSpc>
                <a:spcPct val="100000"/>
              </a:lnSpc>
              <a:spcBef>
                <a:spcPct val="20000"/>
              </a:spcBef>
              <a:spcAft>
                <a:spcPts val="0"/>
              </a:spcAft>
              <a:buClr>
                <a:srgbClr val="9C181E"/>
              </a:buClr>
              <a:buFont typeface="Wingdings" panose="05000000000000000000"/>
              <a:buChar char="n"/>
              <a:defRPr lang="en-US" sz="3200" b="0" i="0" u="none" strike="noStrike" cap="none" spc="0">
                <a:solidFill>
                  <a:srgbClr val="000000"/>
                </a:solidFill>
                <a:latin typeface="Arial" panose="020B0604020202020204"/>
                <a:ea typeface="微软雅黑" panose="020B0503020204020204" pitchFamily="34" charset="-122"/>
                <a:cs typeface="Arial" panose="020B0604020202020204"/>
              </a:defRPr>
            </a:pPr>
            <a:r>
              <a:rPr lang="zh-CN" altLang="en-US" sz="2000" b="1" dirty="0"/>
              <a:t>通过大量无效控制流、重复包装函数、噪声日志和诱饵 </a:t>
            </a:r>
            <a:r>
              <a:rPr lang="en-US" altLang="zh-CN" sz="2000" b="1" dirty="0"/>
              <a:t>trace</a:t>
            </a:r>
            <a:r>
              <a:rPr lang="zh-CN" altLang="en-US" sz="2000" b="1" dirty="0"/>
              <a:t>等，增加智能体需要处理的上下文规模。</a:t>
            </a:r>
          </a:p>
        </p:txBody>
      </p:sp>
      <p:pic>
        <p:nvPicPr>
          <p:cNvPr id="9" name="图片 8">
            <a:extLst>
              <a:ext uri="{FF2B5EF4-FFF2-40B4-BE49-F238E27FC236}">
                <a16:creationId xmlns:a16="http://schemas.microsoft.com/office/drawing/2014/main" id="{F7F70D4E-5D25-136F-7712-AF40F04F7D2C}"/>
              </a:ext>
            </a:extLst>
          </p:cNvPr>
          <p:cNvPicPr>
            <a:picLocks noChangeAspect="1"/>
          </p:cNvPicPr>
          <p:nvPr/>
        </p:nvPicPr>
        <p:blipFill>
          <a:blip r:embed="rId3"/>
          <a:stretch>
            <a:fillRect/>
          </a:stretch>
        </p:blipFill>
        <p:spPr>
          <a:xfrm>
            <a:off x="0" y="1552967"/>
            <a:ext cx="11962379" cy="3596821"/>
          </a:xfrm>
          <a:prstGeom prst="rect">
            <a:avLst/>
          </a:prstGeom>
        </p:spPr>
      </p:pic>
      <p:pic>
        <p:nvPicPr>
          <p:cNvPr id="11" name="图片 10">
            <a:extLst>
              <a:ext uri="{FF2B5EF4-FFF2-40B4-BE49-F238E27FC236}">
                <a16:creationId xmlns:a16="http://schemas.microsoft.com/office/drawing/2014/main" id="{24AD7F0D-8737-5DBB-E2DE-BE88CFE9B5D1}"/>
              </a:ext>
            </a:extLst>
          </p:cNvPr>
          <p:cNvPicPr>
            <a:picLocks noChangeAspect="1"/>
          </p:cNvPicPr>
          <p:nvPr/>
        </p:nvPicPr>
        <p:blipFill>
          <a:blip r:embed="rId4"/>
          <a:stretch>
            <a:fillRect/>
          </a:stretch>
        </p:blipFill>
        <p:spPr>
          <a:xfrm>
            <a:off x="645078" y="5149788"/>
            <a:ext cx="2865766" cy="1511040"/>
          </a:xfrm>
          <a:prstGeom prst="rect">
            <a:avLst/>
          </a:prstGeom>
        </p:spPr>
      </p:pic>
      <p:pic>
        <p:nvPicPr>
          <p:cNvPr id="13" name="图片 12">
            <a:extLst>
              <a:ext uri="{FF2B5EF4-FFF2-40B4-BE49-F238E27FC236}">
                <a16:creationId xmlns:a16="http://schemas.microsoft.com/office/drawing/2014/main" id="{32814456-B957-75E6-520F-56B5657D62AB}"/>
              </a:ext>
            </a:extLst>
          </p:cNvPr>
          <p:cNvPicPr>
            <a:picLocks noChangeAspect="1"/>
          </p:cNvPicPr>
          <p:nvPr/>
        </p:nvPicPr>
        <p:blipFill>
          <a:blip r:embed="rId5"/>
          <a:stretch>
            <a:fillRect/>
          </a:stretch>
        </p:blipFill>
        <p:spPr>
          <a:xfrm>
            <a:off x="4612987" y="5149788"/>
            <a:ext cx="2462130" cy="1620953"/>
          </a:xfrm>
          <a:prstGeom prst="rect">
            <a:avLst/>
          </a:prstGeom>
        </p:spPr>
      </p:pic>
      <p:sp>
        <p:nvSpPr>
          <p:cNvPr id="15" name="文本框 14">
            <a:extLst>
              <a:ext uri="{FF2B5EF4-FFF2-40B4-BE49-F238E27FC236}">
                <a16:creationId xmlns:a16="http://schemas.microsoft.com/office/drawing/2014/main" id="{E24D9203-BECF-1158-69A3-5DADE5E785BE}"/>
              </a:ext>
            </a:extLst>
          </p:cNvPr>
          <p:cNvSpPr txBox="1"/>
          <p:nvPr/>
        </p:nvSpPr>
        <p:spPr>
          <a:xfrm>
            <a:off x="7710311" y="5441245"/>
            <a:ext cx="3904024" cy="1015663"/>
          </a:xfrm>
          <a:prstGeom prst="rect">
            <a:avLst/>
          </a:prstGeom>
          <a:noFill/>
        </p:spPr>
        <p:txBody>
          <a:bodyPr wrap="square">
            <a:spAutoFit/>
          </a:bodyPr>
          <a:lstStyle/>
          <a:p>
            <a:r>
              <a:rPr lang="zh-CN" altLang="en-US" sz="2000" b="1" dirty="0"/>
              <a:t>不是改变程序的正确输出，而是让</a:t>
            </a:r>
            <a:r>
              <a:rPr lang="en-US" altLang="zh-CN" sz="2000" b="1" dirty="0"/>
              <a:t>Agent</a:t>
            </a:r>
            <a:r>
              <a:rPr lang="zh-CN" altLang="en-US" sz="2000" b="1" dirty="0"/>
              <a:t>不断的将算力投入无用的事情上，导致其过载。</a:t>
            </a:r>
          </a:p>
        </p:txBody>
      </p:sp>
    </p:spTree>
    <p:extLst>
      <p:ext uri="{BB962C8B-B14F-4D97-AF65-F5344CB8AC3E}">
        <p14:creationId xmlns:p14="http://schemas.microsoft.com/office/powerpoint/2010/main" val="128818786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0755A-E28F-406C-6153-AD53F2E3381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2110FAB-D325-29A5-A197-D8E80AF02A9B}"/>
              </a:ext>
            </a:extLst>
          </p:cNvPr>
          <p:cNvSpPr>
            <a:spLocks noGrp="1"/>
          </p:cNvSpPr>
          <p:nvPr>
            <p:ph type="title"/>
          </p:nvPr>
        </p:nvSpPr>
        <p:spPr>
          <a:xfrm>
            <a:off x="1098735" y="233805"/>
            <a:ext cx="10515600" cy="613434"/>
          </a:xfrm>
        </p:spPr>
        <p:txBody>
          <a:bodyPr/>
          <a:lstStyle/>
          <a:p>
            <a:r>
              <a:rPr lang="zh-CN" altLang="en-US" dirty="0"/>
              <a:t>对抗样本：诱导</a:t>
            </a:r>
            <a:r>
              <a:rPr lang="en-US" altLang="zh-CN" dirty="0"/>
              <a:t>agent</a:t>
            </a:r>
            <a:r>
              <a:rPr lang="zh-CN" altLang="en-US" dirty="0"/>
              <a:t>内部坍塌</a:t>
            </a:r>
          </a:p>
        </p:txBody>
      </p:sp>
      <p:sp>
        <p:nvSpPr>
          <p:cNvPr id="4" name="文本框 3">
            <a:extLst>
              <a:ext uri="{FF2B5EF4-FFF2-40B4-BE49-F238E27FC236}">
                <a16:creationId xmlns:a16="http://schemas.microsoft.com/office/drawing/2014/main" id="{7248BD28-B638-D6AC-68CE-6E705F378C0D}"/>
              </a:ext>
            </a:extLst>
          </p:cNvPr>
          <p:cNvSpPr txBox="1"/>
          <p:nvPr/>
        </p:nvSpPr>
        <p:spPr>
          <a:xfrm>
            <a:off x="155221" y="1062755"/>
            <a:ext cx="11104450" cy="400110"/>
          </a:xfrm>
          <a:prstGeom prst="rect">
            <a:avLst/>
          </a:prstGeom>
          <a:noFill/>
        </p:spPr>
        <p:txBody>
          <a:bodyPr wrap="square">
            <a:spAutoFit/>
          </a:bodyPr>
          <a:lstStyle/>
          <a:p>
            <a:r>
              <a:rPr lang="zh-CN" altLang="en-US" sz="2000" b="1" dirty="0"/>
              <a:t>通过微小语义扰动持续污染推理过程，使</a:t>
            </a:r>
            <a:r>
              <a:rPr lang="en-US" altLang="zh-CN" sz="2000" b="1" dirty="0"/>
              <a:t>Agent</a:t>
            </a:r>
            <a:r>
              <a:rPr lang="zh-CN" altLang="en-US" sz="2000" b="1" dirty="0"/>
              <a:t>累计错误认知，并逐步失去稳定分析能力</a:t>
            </a:r>
            <a:endParaRPr lang="zh-CN" altLang="en-US" sz="2000" dirty="0"/>
          </a:p>
        </p:txBody>
      </p:sp>
      <p:pic>
        <p:nvPicPr>
          <p:cNvPr id="5" name="图片 4">
            <a:extLst>
              <a:ext uri="{FF2B5EF4-FFF2-40B4-BE49-F238E27FC236}">
                <a16:creationId xmlns:a16="http://schemas.microsoft.com/office/drawing/2014/main" id="{30F11C48-9F77-E4BE-AA45-FB6AB63FC6D5}"/>
              </a:ext>
            </a:extLst>
          </p:cNvPr>
          <p:cNvPicPr>
            <a:picLocks noChangeAspect="1"/>
          </p:cNvPicPr>
          <p:nvPr/>
        </p:nvPicPr>
        <p:blipFill>
          <a:blip r:embed="rId3"/>
          <a:stretch>
            <a:fillRect/>
          </a:stretch>
        </p:blipFill>
        <p:spPr>
          <a:xfrm>
            <a:off x="244589" y="1842797"/>
            <a:ext cx="11450401" cy="1586203"/>
          </a:xfrm>
          <a:prstGeom prst="rect">
            <a:avLst/>
          </a:prstGeom>
        </p:spPr>
      </p:pic>
      <p:pic>
        <p:nvPicPr>
          <p:cNvPr id="9" name="图片 8">
            <a:extLst>
              <a:ext uri="{FF2B5EF4-FFF2-40B4-BE49-F238E27FC236}">
                <a16:creationId xmlns:a16="http://schemas.microsoft.com/office/drawing/2014/main" id="{67D14948-9F56-3E38-A247-04C292E5389F}"/>
              </a:ext>
            </a:extLst>
          </p:cNvPr>
          <p:cNvPicPr>
            <a:picLocks noChangeAspect="1"/>
          </p:cNvPicPr>
          <p:nvPr/>
        </p:nvPicPr>
        <p:blipFill>
          <a:blip r:embed="rId4"/>
          <a:stretch>
            <a:fillRect/>
          </a:stretch>
        </p:blipFill>
        <p:spPr>
          <a:xfrm>
            <a:off x="244589" y="3808932"/>
            <a:ext cx="5682266" cy="1442347"/>
          </a:xfrm>
          <a:prstGeom prst="rect">
            <a:avLst/>
          </a:prstGeom>
        </p:spPr>
      </p:pic>
      <p:sp>
        <p:nvSpPr>
          <p:cNvPr id="10" name="文本框 9">
            <a:extLst>
              <a:ext uri="{FF2B5EF4-FFF2-40B4-BE49-F238E27FC236}">
                <a16:creationId xmlns:a16="http://schemas.microsoft.com/office/drawing/2014/main" id="{CB8A2A57-5162-1FB2-E9AF-B50E6E10A26E}"/>
              </a:ext>
            </a:extLst>
          </p:cNvPr>
          <p:cNvSpPr txBox="1"/>
          <p:nvPr/>
        </p:nvSpPr>
        <p:spPr>
          <a:xfrm>
            <a:off x="891822" y="5292657"/>
            <a:ext cx="4684889" cy="338554"/>
          </a:xfrm>
          <a:prstGeom prst="rect">
            <a:avLst/>
          </a:prstGeom>
          <a:noFill/>
        </p:spPr>
        <p:txBody>
          <a:bodyPr wrap="square" rtlCol="0">
            <a:spAutoFit/>
          </a:bodyPr>
          <a:lstStyle/>
          <a:p>
            <a:r>
              <a:rPr lang="zh-CN" altLang="en-US" sz="1600" dirty="0"/>
              <a:t>对抗样本攻击后的</a:t>
            </a:r>
            <a:r>
              <a:rPr lang="en-US" altLang="zh-CN" sz="1600" dirty="0"/>
              <a:t>agent</a:t>
            </a:r>
            <a:r>
              <a:rPr lang="zh-CN" altLang="en-US" sz="1600" dirty="0"/>
              <a:t>与正常</a:t>
            </a:r>
            <a:r>
              <a:rPr lang="en-US" altLang="zh-CN" sz="1600" dirty="0"/>
              <a:t>agent</a:t>
            </a:r>
            <a:r>
              <a:rPr lang="zh-CN" altLang="en-US" sz="1600" dirty="0"/>
              <a:t>对比</a:t>
            </a:r>
          </a:p>
        </p:txBody>
      </p:sp>
      <p:sp>
        <p:nvSpPr>
          <p:cNvPr id="12" name="文本框 11">
            <a:extLst>
              <a:ext uri="{FF2B5EF4-FFF2-40B4-BE49-F238E27FC236}">
                <a16:creationId xmlns:a16="http://schemas.microsoft.com/office/drawing/2014/main" id="{DC53B783-0E80-3658-3E18-FE6FD8CC8DEF}"/>
              </a:ext>
            </a:extLst>
          </p:cNvPr>
          <p:cNvSpPr txBox="1"/>
          <p:nvPr/>
        </p:nvSpPr>
        <p:spPr>
          <a:xfrm>
            <a:off x="336558" y="6117375"/>
            <a:ext cx="12039954" cy="400110"/>
          </a:xfrm>
          <a:prstGeom prst="rect">
            <a:avLst/>
          </a:prstGeom>
          <a:noFill/>
        </p:spPr>
        <p:txBody>
          <a:bodyPr wrap="square">
            <a:spAutoFit/>
          </a:bodyPr>
          <a:lstStyle/>
          <a:p>
            <a:r>
              <a:rPr lang="zh-CN" altLang="en-US" sz="2000" b="1" dirty="0"/>
              <a:t>目标是针对大模型，智能体的内部坍塌，毒素累积从而改变</a:t>
            </a:r>
            <a:r>
              <a:rPr lang="en-US" altLang="zh-CN" sz="2000" b="1" dirty="0"/>
              <a:t>Agent</a:t>
            </a:r>
            <a:r>
              <a:rPr lang="zh-CN" altLang="en-US" sz="2000" b="1" dirty="0"/>
              <a:t>对输入的理解与内部状态。</a:t>
            </a:r>
          </a:p>
        </p:txBody>
      </p:sp>
    </p:spTree>
    <p:extLst>
      <p:ext uri="{BB962C8B-B14F-4D97-AF65-F5344CB8AC3E}">
        <p14:creationId xmlns:p14="http://schemas.microsoft.com/office/powerpoint/2010/main" val="258863568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测试样例</a:t>
            </a:r>
            <a:r>
              <a:rPr lang="en-US" altLang="zh-CN" dirty="0"/>
              <a:t>APK</a:t>
            </a:r>
            <a:endParaRPr lang="zh-CN" altLang="en-US" dirty="0"/>
          </a:p>
        </p:txBody>
      </p:sp>
      <p:graphicFrame>
        <p:nvGraphicFramePr>
          <p:cNvPr id="3" name="表格 2"/>
          <p:cNvGraphicFramePr>
            <a:graphicFrameLocks noGrp="1"/>
          </p:cNvGraphicFramePr>
          <p:nvPr>
            <p:extLst>
              <p:ext uri="{D42A27DB-BD31-4B8C-83A1-F6EECF244321}">
                <p14:modId xmlns:p14="http://schemas.microsoft.com/office/powerpoint/2010/main" val="2924819477"/>
              </p:ext>
            </p:extLst>
          </p:nvPr>
        </p:nvGraphicFramePr>
        <p:xfrm>
          <a:off x="327378" y="1616902"/>
          <a:ext cx="9934222" cy="2034375"/>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0000"/>
                    </a:ext>
                  </a:extLst>
                </a:gridCol>
                <a:gridCol w="3014133">
                  <a:extLst>
                    <a:ext uri="{9D8B030D-6E8A-4147-A177-3AD203B41FA5}">
                      <a16:colId xmlns:a16="http://schemas.microsoft.com/office/drawing/2014/main" val="20001"/>
                    </a:ext>
                  </a:extLst>
                </a:gridCol>
                <a:gridCol w="1806222">
                  <a:extLst>
                    <a:ext uri="{9D8B030D-6E8A-4147-A177-3AD203B41FA5}">
                      <a16:colId xmlns:a16="http://schemas.microsoft.com/office/drawing/2014/main" val="20002"/>
                    </a:ext>
                  </a:extLst>
                </a:gridCol>
                <a:gridCol w="1354667">
                  <a:extLst>
                    <a:ext uri="{9D8B030D-6E8A-4147-A177-3AD203B41FA5}">
                      <a16:colId xmlns:a16="http://schemas.microsoft.com/office/drawing/2014/main" val="20003"/>
                    </a:ext>
                  </a:extLst>
                </a:gridCol>
                <a:gridCol w="1727200">
                  <a:extLst>
                    <a:ext uri="{9D8B030D-6E8A-4147-A177-3AD203B41FA5}">
                      <a16:colId xmlns:a16="http://schemas.microsoft.com/office/drawing/2014/main" val="20004"/>
                    </a:ext>
                  </a:extLst>
                </a:gridCol>
                <a:gridCol w="1422400">
                  <a:extLst>
                    <a:ext uri="{9D8B030D-6E8A-4147-A177-3AD203B41FA5}">
                      <a16:colId xmlns:a16="http://schemas.microsoft.com/office/drawing/2014/main" val="2125622340"/>
                    </a:ext>
                  </a:extLst>
                </a:gridCol>
              </a:tblGrid>
              <a:tr h="403059">
                <a:tc>
                  <a:txBody>
                    <a:bodyPr/>
                    <a:lstStyle/>
                    <a:p>
                      <a:pPr algn="ctr"/>
                      <a:r>
                        <a:rPr lang="zh-CN" altLang="en-US" sz="1400" dirty="0"/>
                        <a:t>序号</a:t>
                      </a:r>
                    </a:p>
                  </a:txBody>
                  <a:tcPr/>
                </a:tc>
                <a:tc>
                  <a:txBody>
                    <a:bodyPr/>
                    <a:lstStyle/>
                    <a:p>
                      <a:pPr algn="ctr"/>
                      <a:r>
                        <a:rPr lang="zh-CN" altLang="en-US" sz="1400" dirty="0"/>
                        <a:t>技术</a:t>
                      </a:r>
                    </a:p>
                  </a:txBody>
                  <a:tcPr/>
                </a:tc>
                <a:tc>
                  <a:txBody>
                    <a:bodyPr/>
                    <a:lstStyle/>
                    <a:p>
                      <a:pPr algn="ctr"/>
                      <a:r>
                        <a:rPr lang="en-US" altLang="zh-CN" sz="1400" dirty="0"/>
                        <a:t>Claude</a:t>
                      </a:r>
                      <a:r>
                        <a:rPr lang="zh-CN" altLang="en-US" sz="1400" dirty="0"/>
                        <a:t>（</a:t>
                      </a:r>
                      <a:r>
                        <a:rPr lang="en-US" altLang="zh-CN" sz="1400" dirty="0"/>
                        <a:t>opus4.8</a:t>
                      </a:r>
                      <a:r>
                        <a:rPr lang="zh-CN" altLang="en-US" sz="1400" dirty="0"/>
                        <a:t>）</a:t>
                      </a:r>
                    </a:p>
                  </a:txBody>
                  <a:tcPr/>
                </a:tc>
                <a:tc>
                  <a:txBody>
                    <a:bodyPr/>
                    <a:lstStyle/>
                    <a:p>
                      <a:pPr algn="ctr"/>
                      <a:r>
                        <a:rPr lang="en-US" altLang="zh-CN" sz="1400" dirty="0" err="1"/>
                        <a:t>Chatgpt</a:t>
                      </a:r>
                      <a:r>
                        <a:rPr lang="zh-CN" altLang="en-US" sz="1400" dirty="0"/>
                        <a:t>（</a:t>
                      </a:r>
                      <a:r>
                        <a:rPr lang="en-US" altLang="zh-CN" sz="1400" dirty="0"/>
                        <a:t>5.5</a:t>
                      </a:r>
                      <a:r>
                        <a:rPr lang="zh-CN" altLang="en-US" sz="1400" dirty="0"/>
                        <a:t>）</a:t>
                      </a:r>
                    </a:p>
                  </a:txBody>
                  <a:tcPr/>
                </a:tc>
                <a:tc>
                  <a:txBody>
                    <a:bodyPr/>
                    <a:lstStyle/>
                    <a:p>
                      <a:pPr algn="ctr"/>
                      <a:r>
                        <a:rPr lang="en-US" altLang="zh-CN" sz="1400" dirty="0" err="1"/>
                        <a:t>Deepseek</a:t>
                      </a:r>
                      <a:r>
                        <a:rPr lang="zh-CN" altLang="en-US" sz="1400" dirty="0"/>
                        <a:t>（</a:t>
                      </a:r>
                      <a:r>
                        <a:rPr lang="en-US" altLang="zh-CN" sz="1400" dirty="0"/>
                        <a:t>v4 pro</a:t>
                      </a:r>
                      <a:r>
                        <a:rPr lang="zh-CN" altLang="en-US" sz="1400" dirty="0"/>
                        <a:t>）</a:t>
                      </a:r>
                    </a:p>
                  </a:txBody>
                  <a:tcPr/>
                </a:tc>
                <a:tc>
                  <a:txBody>
                    <a:bodyPr/>
                    <a:lstStyle/>
                    <a:p>
                      <a:pPr algn="ctr"/>
                      <a:r>
                        <a:rPr lang="en-US" altLang="zh-CN" sz="1400" dirty="0"/>
                        <a:t>pass@1</a:t>
                      </a:r>
                      <a:endParaRPr lang="zh-CN" altLang="en-US" sz="1400" dirty="0"/>
                    </a:p>
                  </a:txBody>
                  <a:tcPr/>
                </a:tc>
                <a:extLst>
                  <a:ext uri="{0D108BD9-81ED-4DB2-BD59-A6C34878D82A}">
                    <a16:rowId xmlns:a16="http://schemas.microsoft.com/office/drawing/2014/main" val="10000"/>
                  </a:ext>
                </a:extLst>
              </a:tr>
              <a:tr h="318205">
                <a:tc>
                  <a:txBody>
                    <a:bodyPr/>
                    <a:lstStyle/>
                    <a:p>
                      <a:pPr algn="ctr"/>
                      <a:r>
                        <a:rPr lang="en-US" altLang="zh-CN" sz="1400" dirty="0"/>
                        <a:t>1</a:t>
                      </a:r>
                      <a:endParaRPr lang="zh-CN" altLang="en-US" sz="1400" dirty="0"/>
                    </a:p>
                  </a:txBody>
                  <a:tcPr/>
                </a:tc>
                <a:tc>
                  <a:txBody>
                    <a:bodyPr/>
                    <a:lstStyle/>
                    <a:p>
                      <a:pPr algn="ctr"/>
                      <a:r>
                        <a:rPr lang="en-US" altLang="zh-CN" sz="1400" dirty="0"/>
                        <a:t>guardrail trigger</a:t>
                      </a:r>
                      <a:r>
                        <a:rPr lang="zh-CN" altLang="en-US" sz="1400" dirty="0"/>
                        <a:t>（</a:t>
                      </a:r>
                      <a:r>
                        <a:rPr lang="en-US" altLang="zh-CN" sz="1400" dirty="0"/>
                        <a:t>meta + string</a:t>
                      </a:r>
                      <a:r>
                        <a:rPr lang="zh-CN" altLang="en-US" sz="1400"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x</a:t>
                      </a:r>
                      <a:endParaRPr lang="zh-CN" altLang="en-US"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66.7%</a:t>
                      </a:r>
                      <a:endParaRPr lang="zh-CN" altLang="en-US" sz="1400" dirty="0"/>
                    </a:p>
                  </a:txBody>
                  <a:tcPr/>
                </a:tc>
                <a:extLst>
                  <a:ext uri="{0D108BD9-81ED-4DB2-BD59-A6C34878D82A}">
                    <a16:rowId xmlns:a16="http://schemas.microsoft.com/office/drawing/2014/main" val="10001"/>
                  </a:ext>
                </a:extLst>
              </a:tr>
              <a:tr h="292748">
                <a:tc>
                  <a:txBody>
                    <a:bodyPr/>
                    <a:lstStyle/>
                    <a:p>
                      <a:pPr algn="ctr"/>
                      <a:r>
                        <a:rPr lang="en-US" altLang="zh-CN" sz="1400" dirty="0"/>
                        <a:t>2</a:t>
                      </a:r>
                      <a:endParaRPr lang="zh-CN" altLang="en-US" sz="1400" dirty="0"/>
                    </a:p>
                  </a:txBody>
                  <a:tcPr/>
                </a:tc>
                <a:tc>
                  <a:txBody>
                    <a:bodyPr/>
                    <a:lstStyle/>
                    <a:p>
                      <a:pPr algn="ctr"/>
                      <a:r>
                        <a:rPr lang="en-US" altLang="zh-CN" sz="1400" dirty="0"/>
                        <a:t>logical honeypot</a:t>
                      </a:r>
                      <a:r>
                        <a:rPr lang="zh-CN" altLang="en-US" sz="1400" dirty="0"/>
                        <a:t>（不透明谓词）</a:t>
                      </a:r>
                    </a:p>
                  </a:txBody>
                  <a:tcPr/>
                </a:tc>
                <a:tc>
                  <a:txBody>
                    <a:bodyPr/>
                    <a:lstStyle/>
                    <a:p>
                      <a:pPr algn="ctr"/>
                      <a:r>
                        <a:rPr lang="en-US" altLang="zh-CN" sz="1400" dirty="0"/>
                        <a:t>x</a:t>
                      </a:r>
                      <a:endParaRPr lang="zh-CN" altLang="en-US"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x</a:t>
                      </a:r>
                      <a:endParaRPr lang="zh-CN" altLang="en-US" sz="1400" dirty="0"/>
                    </a:p>
                  </a:txBody>
                  <a:tcPr/>
                </a:tc>
                <a:tc>
                  <a:txBody>
                    <a:bodyPr/>
                    <a:lstStyle/>
                    <a:p>
                      <a:pPr algn="ctr"/>
                      <a:r>
                        <a:rPr lang="zh-CN" altLang="en-US" sz="1400" dirty="0"/>
                        <a:t>√</a:t>
                      </a:r>
                    </a:p>
                  </a:txBody>
                  <a:tcPr/>
                </a:tc>
                <a:tc>
                  <a:txBody>
                    <a:bodyPr/>
                    <a:lstStyle/>
                    <a:p>
                      <a:pPr algn="ctr"/>
                      <a:r>
                        <a:rPr lang="en-US" altLang="zh-CN" sz="1400" dirty="0"/>
                        <a:t>33.3%</a:t>
                      </a:r>
                      <a:endParaRPr lang="zh-CN" altLang="en-US" sz="1400" dirty="0"/>
                    </a:p>
                  </a:txBody>
                  <a:tcPr/>
                </a:tc>
                <a:extLst>
                  <a:ext uri="{0D108BD9-81ED-4DB2-BD59-A6C34878D82A}">
                    <a16:rowId xmlns:a16="http://schemas.microsoft.com/office/drawing/2014/main" val="10002"/>
                  </a:ext>
                </a:extLst>
              </a:tr>
              <a:tr h="437863">
                <a:tc>
                  <a:txBody>
                    <a:bodyPr/>
                    <a:lstStyle/>
                    <a:p>
                      <a:pPr algn="ctr"/>
                      <a:r>
                        <a:rPr lang="en-US" altLang="zh-CN" sz="1400" dirty="0"/>
                        <a:t>3</a:t>
                      </a:r>
                      <a:endParaRPr lang="zh-CN" altLang="en-US" sz="1400" dirty="0"/>
                    </a:p>
                  </a:txBody>
                  <a:tcPr/>
                </a:tc>
                <a:tc>
                  <a:txBody>
                    <a:bodyPr/>
                    <a:lstStyle/>
                    <a:p>
                      <a:pPr algn="ctr"/>
                      <a:r>
                        <a:rPr lang="en-US" altLang="zh-CN" sz="1400" dirty="0"/>
                        <a:t>Logical honeypot(</a:t>
                      </a:r>
                      <a:r>
                        <a:rPr lang="zh-CN" altLang="en-US" sz="1400" dirty="0"/>
                        <a:t>熟悉模式细微扰动）</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a:t>
                      </a:r>
                    </a:p>
                  </a:txBody>
                  <a:tcPr/>
                </a:tc>
                <a:tc>
                  <a:txBody>
                    <a:bodyPr/>
                    <a:lstStyle/>
                    <a:p>
                      <a:pPr algn="ctr"/>
                      <a:r>
                        <a:rPr lang="zh-CN" altLang="en-US" sz="1400" dirty="0"/>
                        <a:t>√</a:t>
                      </a:r>
                    </a:p>
                  </a:txBody>
                  <a:tcPr/>
                </a:tc>
                <a:tc>
                  <a:txBody>
                    <a:bodyPr/>
                    <a:lstStyle/>
                    <a:p>
                      <a:pPr algn="ctr"/>
                      <a:r>
                        <a:rPr lang="zh-CN" altLang="en-US" sz="1400" dirty="0"/>
                        <a:t>√</a:t>
                      </a:r>
                    </a:p>
                  </a:txBody>
                  <a:tcPr/>
                </a:tc>
                <a:tc>
                  <a:txBody>
                    <a:bodyPr/>
                    <a:lstStyle/>
                    <a:p>
                      <a:pPr algn="ctr"/>
                      <a:r>
                        <a:rPr lang="en-US" altLang="zh-CN" sz="1400" dirty="0"/>
                        <a:t>%100</a:t>
                      </a:r>
                      <a:endParaRPr lang="zh-CN" altLang="en-US" sz="1400" dirty="0"/>
                    </a:p>
                  </a:txBody>
                  <a:tcPr/>
                </a:tc>
                <a:extLst>
                  <a:ext uri="{0D108BD9-81ED-4DB2-BD59-A6C34878D82A}">
                    <a16:rowId xmlns:a16="http://schemas.microsoft.com/office/drawing/2014/main" val="10003"/>
                  </a:ext>
                </a:extLst>
              </a:tr>
              <a:tr h="570448">
                <a:tc>
                  <a:txBody>
                    <a:bodyPr/>
                    <a:lstStyle/>
                    <a:p>
                      <a:pPr algn="ctr"/>
                      <a:r>
                        <a:rPr lang="en-US" altLang="zh-CN" sz="1400" dirty="0"/>
                        <a:t>4</a:t>
                      </a:r>
                      <a:endParaRPr lang="zh-CN" altLang="en-US" sz="1400" dirty="0"/>
                    </a:p>
                  </a:txBody>
                  <a:tcPr/>
                </a:tc>
                <a:tc>
                  <a:txBody>
                    <a:bodyPr/>
                    <a:lstStyle/>
                    <a:p>
                      <a:pPr algn="ctr"/>
                      <a:r>
                        <a:rPr lang="en-US" altLang="zh-CN" sz="1400" dirty="0"/>
                        <a:t>Logical honeypot</a:t>
                      </a:r>
                      <a:r>
                        <a:rPr lang="zh-CN" altLang="en-US" sz="1400" dirty="0"/>
                        <a:t>（不透明谓词）</a:t>
                      </a:r>
                      <a:r>
                        <a:rPr lang="en-US" altLang="zh-CN" sz="1400" dirty="0"/>
                        <a:t> + guardrail trigger</a:t>
                      </a:r>
                      <a:endParaRPr lang="zh-CN" altLang="en-US" sz="1400" dirty="0"/>
                    </a:p>
                  </a:txBody>
                  <a:tcPr/>
                </a:tc>
                <a:tc>
                  <a:txBody>
                    <a:bodyPr/>
                    <a:lstStyle/>
                    <a:p>
                      <a:pPr algn="ctr"/>
                      <a:r>
                        <a:rPr lang="zh-CN" altLang="en-US" sz="1400" dirty="0"/>
                        <a:t>√</a:t>
                      </a:r>
                    </a:p>
                  </a:txBody>
                  <a:tcPr/>
                </a:tc>
                <a:tc>
                  <a:txBody>
                    <a:bodyPr/>
                    <a:lstStyle/>
                    <a:p>
                      <a:pPr algn="ctr"/>
                      <a:r>
                        <a:rPr lang="zh-CN" altLang="en-US" sz="1400" dirty="0"/>
                        <a:t>√</a:t>
                      </a:r>
                    </a:p>
                  </a:txBody>
                  <a:tcPr/>
                </a:tc>
                <a:tc>
                  <a:txBody>
                    <a:bodyPr/>
                    <a:lstStyle/>
                    <a:p>
                      <a:pPr algn="ctr"/>
                      <a:r>
                        <a:rPr lang="zh-CN" altLang="en-US" sz="1400" dirty="0"/>
                        <a:t>√</a:t>
                      </a:r>
                    </a:p>
                  </a:txBody>
                  <a:tcPr/>
                </a:tc>
                <a:tc>
                  <a:txBody>
                    <a:bodyPr/>
                    <a:lstStyle/>
                    <a:p>
                      <a:pPr algn="ctr"/>
                      <a:r>
                        <a:rPr lang="en-US" altLang="zh-CN" sz="1400" dirty="0"/>
                        <a:t>100%</a:t>
                      </a:r>
                      <a:endParaRPr lang="zh-CN" altLang="en-US" sz="1400" dirty="0"/>
                    </a:p>
                  </a:txBody>
                  <a:tcPr/>
                </a:tc>
                <a:extLst>
                  <a:ext uri="{0D108BD9-81ED-4DB2-BD59-A6C34878D82A}">
                    <a16:rowId xmlns:a16="http://schemas.microsoft.com/office/drawing/2014/main" val="10004"/>
                  </a:ext>
                </a:extLst>
              </a:tr>
            </a:tbl>
          </a:graphicData>
        </a:graphic>
      </p:graphicFrame>
      <p:sp>
        <p:nvSpPr>
          <p:cNvPr id="4" name="文本框 3"/>
          <p:cNvSpPr/>
          <p:nvPr/>
        </p:nvSpPr>
        <p:spPr>
          <a:xfrm>
            <a:off x="455104" y="996417"/>
            <a:ext cx="11227909" cy="400110"/>
          </a:xfrm>
          <a:prstGeom prst="rect">
            <a:avLst/>
          </a:prstGeom>
          <a:noFill/>
        </p:spPr>
        <p:txBody>
          <a:bodyPr wrap="square" rtlCol="0">
            <a:spAutoFit/>
          </a:bodyPr>
          <a:lstStyle/>
          <a:p>
            <a:r>
              <a:rPr lang="zh-CN" altLang="en-US" sz="2000" b="1" dirty="0"/>
              <a:t>在</a:t>
            </a:r>
            <a:r>
              <a:rPr lang="en-US" altLang="zh-CN" sz="2000" b="1" dirty="0" err="1"/>
              <a:t>Fdroid</a:t>
            </a:r>
            <a:r>
              <a:rPr lang="zh-CN" altLang="en-US" sz="2000" b="1" dirty="0"/>
              <a:t>上选取了多个开源</a:t>
            </a:r>
            <a:r>
              <a:rPr lang="en-US" altLang="zh-CN" sz="2000" b="1" dirty="0"/>
              <a:t>app</a:t>
            </a:r>
            <a:r>
              <a:rPr lang="zh-CN" altLang="en-US" sz="2000" b="1" dirty="0"/>
              <a:t>，通过对其进行修改编译，使用国内外三个代表性的模型进行测试。</a:t>
            </a:r>
          </a:p>
        </p:txBody>
      </p:sp>
      <p:pic>
        <p:nvPicPr>
          <p:cNvPr id="6" name="图片 5">
            <a:extLst>
              <a:ext uri="{FF2B5EF4-FFF2-40B4-BE49-F238E27FC236}">
                <a16:creationId xmlns:a16="http://schemas.microsoft.com/office/drawing/2014/main" id="{D22C9ABA-6D74-4910-D3F7-E4798142CD3E}"/>
              </a:ext>
            </a:extLst>
          </p:cNvPr>
          <p:cNvPicPr>
            <a:picLocks noChangeAspect="1"/>
          </p:cNvPicPr>
          <p:nvPr/>
        </p:nvPicPr>
        <p:blipFill>
          <a:blip r:embed="rId3"/>
          <a:stretch>
            <a:fillRect/>
          </a:stretch>
        </p:blipFill>
        <p:spPr>
          <a:xfrm>
            <a:off x="4076400" y="4117511"/>
            <a:ext cx="3556845" cy="1980176"/>
          </a:xfrm>
          <a:prstGeom prst="rect">
            <a:avLst/>
          </a:prstGeom>
        </p:spPr>
      </p:pic>
      <p:sp>
        <p:nvSpPr>
          <p:cNvPr id="7" name="文本框 6">
            <a:extLst>
              <a:ext uri="{FF2B5EF4-FFF2-40B4-BE49-F238E27FC236}">
                <a16:creationId xmlns:a16="http://schemas.microsoft.com/office/drawing/2014/main" id="{140790F0-6DB9-0DC7-544B-400E1081BAF8}"/>
              </a:ext>
            </a:extLst>
          </p:cNvPr>
          <p:cNvSpPr txBox="1"/>
          <p:nvPr/>
        </p:nvSpPr>
        <p:spPr>
          <a:xfrm>
            <a:off x="4306327" y="6097687"/>
            <a:ext cx="3096992" cy="369332"/>
          </a:xfrm>
          <a:prstGeom prst="rect">
            <a:avLst/>
          </a:prstGeom>
          <a:noFill/>
        </p:spPr>
        <p:txBody>
          <a:bodyPr wrap="square">
            <a:spAutoFit/>
          </a:bodyPr>
          <a:lstStyle/>
          <a:p>
            <a:r>
              <a:rPr lang="en-US" altLang="zh-CN" dirty="0" err="1"/>
              <a:t>Deepseek</a:t>
            </a:r>
            <a:r>
              <a:rPr lang="en-US" altLang="zh-CN" dirty="0"/>
              <a:t> </a:t>
            </a:r>
            <a:r>
              <a:rPr lang="zh-CN" altLang="en-US" dirty="0"/>
              <a:t>分析出错误的结果</a:t>
            </a:r>
          </a:p>
        </p:txBody>
      </p:sp>
      <p:pic>
        <p:nvPicPr>
          <p:cNvPr id="11" name="图片 10">
            <a:extLst>
              <a:ext uri="{FF2B5EF4-FFF2-40B4-BE49-F238E27FC236}">
                <a16:creationId xmlns:a16="http://schemas.microsoft.com/office/drawing/2014/main" id="{4AB59BFD-121C-B4E7-475C-FD250E1C9BD6}"/>
              </a:ext>
            </a:extLst>
          </p:cNvPr>
          <p:cNvPicPr>
            <a:picLocks noChangeAspect="1"/>
          </p:cNvPicPr>
          <p:nvPr/>
        </p:nvPicPr>
        <p:blipFill>
          <a:blip r:embed="rId4"/>
          <a:stretch>
            <a:fillRect/>
          </a:stretch>
        </p:blipFill>
        <p:spPr>
          <a:xfrm>
            <a:off x="554002" y="4130966"/>
            <a:ext cx="3194614" cy="2022322"/>
          </a:xfrm>
          <a:prstGeom prst="rect">
            <a:avLst/>
          </a:prstGeom>
        </p:spPr>
      </p:pic>
      <p:sp>
        <p:nvSpPr>
          <p:cNvPr id="13" name="文本框 12">
            <a:extLst>
              <a:ext uri="{FF2B5EF4-FFF2-40B4-BE49-F238E27FC236}">
                <a16:creationId xmlns:a16="http://schemas.microsoft.com/office/drawing/2014/main" id="{F534F72C-35A4-D938-289B-E9EE4CF5DDA2}"/>
              </a:ext>
            </a:extLst>
          </p:cNvPr>
          <p:cNvSpPr txBox="1"/>
          <p:nvPr/>
        </p:nvSpPr>
        <p:spPr>
          <a:xfrm>
            <a:off x="468841" y="6097687"/>
            <a:ext cx="3364935" cy="369332"/>
          </a:xfrm>
          <a:prstGeom prst="rect">
            <a:avLst/>
          </a:prstGeom>
          <a:noFill/>
        </p:spPr>
        <p:txBody>
          <a:bodyPr wrap="square" rtlCol="0">
            <a:spAutoFit/>
          </a:bodyPr>
          <a:lstStyle/>
          <a:p>
            <a:r>
              <a:rPr lang="en-US" altLang="zh-CN" dirty="0"/>
              <a:t>Claude</a:t>
            </a:r>
            <a:r>
              <a:rPr lang="zh-CN" altLang="en-US" dirty="0"/>
              <a:t>触发安全护栏停止分析</a:t>
            </a:r>
          </a:p>
        </p:txBody>
      </p:sp>
      <p:sp>
        <p:nvSpPr>
          <p:cNvPr id="15" name="文本框 14">
            <a:extLst>
              <a:ext uri="{FF2B5EF4-FFF2-40B4-BE49-F238E27FC236}">
                <a16:creationId xmlns:a16="http://schemas.microsoft.com/office/drawing/2014/main" id="{0FDBDF83-F9FE-6F66-7FEB-1CFFACC0F83C}"/>
              </a:ext>
            </a:extLst>
          </p:cNvPr>
          <p:cNvSpPr txBox="1"/>
          <p:nvPr/>
        </p:nvSpPr>
        <p:spPr>
          <a:xfrm>
            <a:off x="2425769" y="3675160"/>
            <a:ext cx="6563078" cy="369332"/>
          </a:xfrm>
          <a:prstGeom prst="rect">
            <a:avLst/>
          </a:prstGeom>
          <a:noFill/>
        </p:spPr>
        <p:txBody>
          <a:bodyPr wrap="square" rtlCol="0">
            <a:spAutoFit/>
          </a:bodyPr>
          <a:lstStyle/>
          <a:p>
            <a:r>
              <a:rPr lang="en-US" altLang="zh-CN" dirty="0"/>
              <a:t>pass@1</a:t>
            </a:r>
            <a:r>
              <a:rPr lang="zh-CN" altLang="en-US" dirty="0"/>
              <a:t> </a:t>
            </a:r>
            <a:r>
              <a:rPr lang="en-US" altLang="zh-CN" dirty="0"/>
              <a:t>=</a:t>
            </a:r>
            <a:r>
              <a:rPr lang="zh-CN" altLang="en-US" dirty="0"/>
              <a:t> 未得到正确分析结果模型数量</a:t>
            </a:r>
            <a:r>
              <a:rPr lang="en-US" altLang="zh-CN" dirty="0"/>
              <a:t>/</a:t>
            </a:r>
            <a:r>
              <a:rPr lang="zh-CN" altLang="en-US" dirty="0"/>
              <a:t>测试模型总数量</a:t>
            </a:r>
          </a:p>
        </p:txBody>
      </p:sp>
      <p:sp>
        <p:nvSpPr>
          <p:cNvPr id="18" name="文本框 17">
            <a:extLst>
              <a:ext uri="{FF2B5EF4-FFF2-40B4-BE49-F238E27FC236}">
                <a16:creationId xmlns:a16="http://schemas.microsoft.com/office/drawing/2014/main" id="{B5C1B381-32CE-C961-C1DE-0FE596DCFC68}"/>
              </a:ext>
            </a:extLst>
          </p:cNvPr>
          <p:cNvSpPr txBox="1"/>
          <p:nvPr/>
        </p:nvSpPr>
        <p:spPr>
          <a:xfrm>
            <a:off x="8128847" y="6097687"/>
            <a:ext cx="3589866" cy="369332"/>
          </a:xfrm>
          <a:prstGeom prst="rect">
            <a:avLst/>
          </a:prstGeom>
          <a:noFill/>
        </p:spPr>
        <p:txBody>
          <a:bodyPr wrap="square" rtlCol="0">
            <a:spAutoFit/>
          </a:bodyPr>
          <a:lstStyle/>
          <a:p>
            <a:r>
              <a:rPr lang="zh-CN" altLang="en-US" dirty="0"/>
              <a:t>熟悉模式细微扰动欺骗到</a:t>
            </a:r>
            <a:r>
              <a:rPr lang="en-US" altLang="zh-CN" dirty="0" err="1"/>
              <a:t>claude</a:t>
            </a:r>
            <a:endParaRPr lang="zh-CN" altLang="en-US" dirty="0"/>
          </a:p>
        </p:txBody>
      </p:sp>
      <p:pic>
        <p:nvPicPr>
          <p:cNvPr id="19" name="图片 18">
            <a:extLst>
              <a:ext uri="{FF2B5EF4-FFF2-40B4-BE49-F238E27FC236}">
                <a16:creationId xmlns:a16="http://schemas.microsoft.com/office/drawing/2014/main" id="{0CB6C81F-0F77-325B-1C2B-2C048A4985CA}"/>
              </a:ext>
            </a:extLst>
          </p:cNvPr>
          <p:cNvPicPr>
            <a:picLocks noChangeAspect="1"/>
          </p:cNvPicPr>
          <p:nvPr/>
        </p:nvPicPr>
        <p:blipFill>
          <a:blip r:embed="rId5"/>
          <a:stretch>
            <a:fillRect/>
          </a:stretch>
        </p:blipFill>
        <p:spPr>
          <a:xfrm>
            <a:off x="7839744" y="4310677"/>
            <a:ext cx="4168072" cy="1593843"/>
          </a:xfrm>
          <a:prstGeom prst="rect">
            <a:avLst/>
          </a:prstGeom>
        </p:spPr>
      </p:pic>
    </p:spTree>
  </p:cSld>
  <p:clrMapOvr>
    <a:masterClrMapping/>
  </p:clrMapOvr>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419</TotalTime>
  <Words>1373</Words>
  <Application>Microsoft Office PowerPoint</Application>
  <PresentationFormat>宽屏</PresentationFormat>
  <Paragraphs>137</Paragraphs>
  <Slides>10</Slides>
  <Notes>10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10</vt:i4>
      </vt:variant>
    </vt:vector>
  </HeadingPairs>
  <TitlesOfParts>
    <vt:vector size="18" baseType="lpstr">
      <vt:lpstr>Noto Sans CJK SC</vt:lpstr>
      <vt:lpstr>等线</vt:lpstr>
      <vt:lpstr>等线 Light</vt:lpstr>
      <vt:lpstr>宋体</vt:lpstr>
      <vt:lpstr>微软雅黑</vt:lpstr>
      <vt:lpstr>Arial</vt:lpstr>
      <vt:lpstr>Wingdings</vt:lpstr>
      <vt:lpstr>Office 主题​​</vt:lpstr>
      <vt:lpstr>PowerPoint 演示文稿</vt:lpstr>
      <vt:lpstr>AI逆向现状与对抗难题</vt:lpstr>
      <vt:lpstr>如何对抗agent，防止APP代码被逆向？</vt:lpstr>
      <vt:lpstr>逆向对抗思路：传统方法+主动对抗</vt:lpstr>
      <vt:lpstr>内容护栏触发</vt:lpstr>
      <vt:lpstr>内容护栏触发</vt:lpstr>
      <vt:lpstr>蜜罐欺骗</vt:lpstr>
      <vt:lpstr>计算过载（agent Dos）</vt:lpstr>
      <vt:lpstr>对抗样本：诱导agent内部坍塌</vt:lpstr>
      <vt:lpstr>测试样例APK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文杰 杨</cp:lastModifiedBy>
  <cp:revision>18</cp:revision>
  <dcterms:modified xsi:type="dcterms:W3CDTF">2026-09-06T12:16:29Z</dcterms:modified>
</cp:coreProperties>
</file>